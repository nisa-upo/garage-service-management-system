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embeddedFontLst>
    <p:embeddedFont>
      <p:font typeface="Gelasio"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83721" autoAdjust="0"/>
  </p:normalViewPr>
  <p:slideViewPr>
    <p:cSldViewPr snapToGrid="0" snapToObjects="1">
      <p:cViewPr varScale="1">
        <p:scale>
          <a:sx n="93" d="100"/>
          <a:sy n="93" d="100"/>
        </p:scale>
        <p:origin x="558" y="78"/>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EFA4D50B-560D-4BCA-A9CE-5CED68D8443E}" type="datetimeFigureOut">
              <a:rPr lang="en-US" smtClean="0"/>
              <a:t>12/4/2025</a:t>
            </a:fld>
            <a:endParaRPr lang="en-US"/>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4941F1BF-70F2-496E-9E9C-27C199A4EB03}" type="slidenum">
              <a:rPr lang="en-US" smtClean="0"/>
              <a:t>‹#›</a:t>
            </a:fld>
            <a:endParaRPr lang="en-US"/>
          </a:p>
        </p:txBody>
      </p:sp>
    </p:spTree>
    <p:extLst>
      <p:ext uri="{BB962C8B-B14F-4D97-AF65-F5344CB8AC3E}">
        <p14:creationId xmlns:p14="http://schemas.microsoft.com/office/powerpoint/2010/main" val="1753008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302D2C"/>
          </a:solidFill>
          <a:ln/>
        </p:spPr>
      </p:sp>
      <p:sp>
        <p:nvSpPr>
          <p:cNvPr id="3" name="Shape 1"/>
          <p:cNvSpPr/>
          <p:nvPr/>
        </p:nvSpPr>
        <p:spPr>
          <a:xfrm>
            <a:off x="0" y="0"/>
            <a:ext cx="14630400" cy="8229600"/>
          </a:xfrm>
          <a:prstGeom prst="rect">
            <a:avLst/>
          </a:prstGeom>
          <a:solidFill>
            <a:srgbClr val="464342"/>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4.jpeg"/><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2.jpeg"/><Relationship Id="rId4" Type="http://schemas.openxmlformats.org/officeDocument/2006/relationships/image" Target="../media/image21.jpe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3054429"/>
            <a:ext cx="7556421" cy="1417558"/>
          </a:xfrm>
          <a:prstGeom prst="rect">
            <a:avLst/>
          </a:prstGeom>
          <a:noFill/>
          <a:ln/>
        </p:spPr>
        <p:txBody>
          <a:bodyPr wrap="squar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Garage Service Management System</a:t>
            </a:r>
            <a:endParaRPr lang="en-US" sz="4450" dirty="0"/>
          </a:p>
        </p:txBody>
      </p:sp>
      <p:sp>
        <p:nvSpPr>
          <p:cNvPr id="4" name="Text 1"/>
          <p:cNvSpPr/>
          <p:nvPr/>
        </p:nvSpPr>
        <p:spPr>
          <a:xfrm>
            <a:off x="6280190" y="481214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Presented by Team Moon Slayers.</a:t>
            </a:r>
            <a:endParaRPr lang="en-US" sz="1750" dirty="0"/>
          </a:p>
        </p:txBody>
      </p:sp>
      <p:sp>
        <p:nvSpPr>
          <p:cNvPr id="5" name="TextBox 4"/>
          <p:cNvSpPr txBox="1"/>
          <p:nvPr/>
        </p:nvSpPr>
        <p:spPr>
          <a:xfrm>
            <a:off x="19250" y="7488455"/>
            <a:ext cx="14611150" cy="741145"/>
          </a:xfrm>
          <a:prstGeom prst="rect">
            <a:avLst/>
          </a:prstGeom>
          <a:solidFill>
            <a:schemeClr val="bg2">
              <a:lumMod val="25000"/>
            </a:schemeClr>
          </a:solidFill>
        </p:spPr>
        <p:txBody>
          <a:bodyPr wrap="squar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464342">
              <a:alpha val="80000"/>
            </a:srgbClr>
          </a:solidFill>
          <a:ln/>
        </p:spPr>
      </p:sp>
      <p:sp>
        <p:nvSpPr>
          <p:cNvPr id="4" name="Text 1"/>
          <p:cNvSpPr/>
          <p:nvPr/>
        </p:nvSpPr>
        <p:spPr>
          <a:xfrm>
            <a:off x="3402449" y="1332309"/>
            <a:ext cx="7825502" cy="978218"/>
          </a:xfrm>
          <a:prstGeom prst="rect">
            <a:avLst/>
          </a:prstGeom>
          <a:noFill/>
          <a:ln/>
        </p:spPr>
        <p:txBody>
          <a:bodyPr wrap="none" lIns="0" tIns="0" rIns="0" bIns="0" rtlCol="0" anchor="t"/>
          <a:lstStyle/>
          <a:p>
            <a:pPr marL="0" indent="0" algn="ctr">
              <a:lnSpc>
                <a:spcPts val="7700"/>
              </a:lnSpc>
              <a:buNone/>
            </a:pPr>
            <a:r>
              <a:rPr lang="en-US" sz="6150" dirty="0">
                <a:solidFill>
                  <a:srgbClr val="D8B6A4"/>
                </a:solidFill>
                <a:latin typeface="Gelasio" pitchFamily="34" charset="0"/>
                <a:ea typeface="Gelasio" pitchFamily="34" charset="-122"/>
                <a:cs typeface="Gelasio" pitchFamily="34" charset="-120"/>
              </a:rPr>
              <a:t>Team Moon Slayers</a:t>
            </a:r>
            <a:endParaRPr lang="en-US" sz="6150" dirty="0"/>
          </a:p>
        </p:txBody>
      </p:sp>
      <p:sp>
        <p:nvSpPr>
          <p:cNvPr id="5" name="Text 2"/>
          <p:cNvSpPr/>
          <p:nvPr/>
        </p:nvSpPr>
        <p:spPr>
          <a:xfrm>
            <a:off x="793790" y="2650688"/>
            <a:ext cx="4295061" cy="425291"/>
          </a:xfrm>
          <a:prstGeom prst="rect">
            <a:avLst/>
          </a:prstGeom>
          <a:noFill/>
          <a:ln/>
        </p:spPr>
        <p:txBody>
          <a:bodyPr wrap="none" lIns="0" tIns="0" rIns="0" bIns="0" rtlCol="0" anchor="t"/>
          <a:lstStyle/>
          <a:p>
            <a:pPr marL="0" indent="0" algn="l">
              <a:lnSpc>
                <a:spcPts val="3300"/>
              </a:lnSpc>
              <a:buNone/>
            </a:pPr>
            <a:r>
              <a:rPr lang="en-US" sz="2650" dirty="0">
                <a:solidFill>
                  <a:srgbClr val="D8B6A4"/>
                </a:solidFill>
                <a:latin typeface="Gelasio" pitchFamily="34" charset="0"/>
                <a:ea typeface="Gelasio" pitchFamily="34" charset="-122"/>
                <a:cs typeface="Gelasio" pitchFamily="34" charset="-120"/>
              </a:rPr>
              <a:t>Arif Hosen. (ID: 251-35-187)</a:t>
            </a:r>
            <a:endParaRPr lang="en-US" sz="2650" dirty="0"/>
          </a:p>
        </p:txBody>
      </p:sp>
      <p:sp>
        <p:nvSpPr>
          <p:cNvPr id="6" name="Text 3"/>
          <p:cNvSpPr/>
          <p:nvPr/>
        </p:nvSpPr>
        <p:spPr>
          <a:xfrm>
            <a:off x="793790" y="3416141"/>
            <a:ext cx="13042821" cy="453509"/>
          </a:xfrm>
          <a:prstGeom prst="rect">
            <a:avLst/>
          </a:prstGeom>
          <a:noFill/>
          <a:ln/>
        </p:spPr>
        <p:txBody>
          <a:bodyPr wrap="none" lIns="0" tIns="0" rIns="0" bIns="0" rtlCol="0" anchor="t"/>
          <a:lstStyle/>
          <a:p>
            <a:pPr marL="0" indent="0" algn="l">
              <a:lnSpc>
                <a:spcPts val="3550"/>
              </a:lnSpc>
              <a:buNone/>
            </a:pPr>
            <a:endParaRPr lang="en-US" sz="2200" dirty="0"/>
          </a:p>
        </p:txBody>
      </p:sp>
      <p:sp>
        <p:nvSpPr>
          <p:cNvPr id="7" name="Text 4"/>
          <p:cNvSpPr/>
          <p:nvPr/>
        </p:nvSpPr>
        <p:spPr>
          <a:xfrm>
            <a:off x="793790" y="4209812"/>
            <a:ext cx="4673441" cy="425291"/>
          </a:xfrm>
          <a:prstGeom prst="rect">
            <a:avLst/>
          </a:prstGeom>
          <a:noFill/>
          <a:ln/>
        </p:spPr>
        <p:txBody>
          <a:bodyPr wrap="none" lIns="0" tIns="0" rIns="0" bIns="0" rtlCol="0" anchor="t"/>
          <a:lstStyle/>
          <a:p>
            <a:pPr marL="0" indent="0" algn="l">
              <a:lnSpc>
                <a:spcPts val="3300"/>
              </a:lnSpc>
              <a:buNone/>
            </a:pPr>
            <a:r>
              <a:rPr lang="en-US" sz="2650" dirty="0">
                <a:solidFill>
                  <a:srgbClr val="D8B6A4"/>
                </a:solidFill>
                <a:latin typeface="Gelasio" pitchFamily="34" charset="0"/>
                <a:ea typeface="Gelasio" pitchFamily="34" charset="-122"/>
                <a:cs typeface="Gelasio" pitchFamily="34" charset="-120"/>
              </a:rPr>
              <a:t>Nisa Hannan. (ID: 251-35-104)</a:t>
            </a:r>
            <a:endParaRPr lang="en-US" sz="2650" dirty="0"/>
          </a:p>
        </p:txBody>
      </p:sp>
      <p:sp>
        <p:nvSpPr>
          <p:cNvPr id="8" name="Text 5"/>
          <p:cNvSpPr/>
          <p:nvPr/>
        </p:nvSpPr>
        <p:spPr>
          <a:xfrm>
            <a:off x="793790" y="4975265"/>
            <a:ext cx="13042821" cy="453509"/>
          </a:xfrm>
          <a:prstGeom prst="rect">
            <a:avLst/>
          </a:prstGeom>
          <a:noFill/>
          <a:ln/>
        </p:spPr>
        <p:txBody>
          <a:bodyPr wrap="none" lIns="0" tIns="0" rIns="0" bIns="0" rtlCol="0" anchor="t"/>
          <a:lstStyle/>
          <a:p>
            <a:pPr marL="0" indent="0" algn="l">
              <a:lnSpc>
                <a:spcPts val="3550"/>
              </a:lnSpc>
              <a:buNone/>
            </a:pPr>
            <a:endParaRPr lang="en-US" sz="2200" dirty="0"/>
          </a:p>
        </p:txBody>
      </p:sp>
      <p:sp>
        <p:nvSpPr>
          <p:cNvPr id="9" name="Text 6"/>
          <p:cNvSpPr/>
          <p:nvPr/>
        </p:nvSpPr>
        <p:spPr>
          <a:xfrm>
            <a:off x="793790" y="5768935"/>
            <a:ext cx="4691896" cy="425291"/>
          </a:xfrm>
          <a:prstGeom prst="rect">
            <a:avLst/>
          </a:prstGeom>
          <a:noFill/>
          <a:ln/>
        </p:spPr>
        <p:txBody>
          <a:bodyPr wrap="none" lIns="0" tIns="0" rIns="0" bIns="0" rtlCol="0" anchor="t"/>
          <a:lstStyle/>
          <a:p>
            <a:pPr marL="0" indent="0" algn="l">
              <a:lnSpc>
                <a:spcPts val="3300"/>
              </a:lnSpc>
              <a:buNone/>
            </a:pPr>
            <a:r>
              <a:rPr lang="en-US" sz="2650" dirty="0">
                <a:solidFill>
                  <a:srgbClr val="D8B6A4"/>
                </a:solidFill>
                <a:latin typeface="Gelasio" pitchFamily="34" charset="0"/>
                <a:ea typeface="Gelasio" pitchFamily="34" charset="-122"/>
                <a:cs typeface="Gelasio" pitchFamily="34" charset="-120"/>
              </a:rPr>
              <a:t>Antor Biswas. (ID: 251-35-365)</a:t>
            </a:r>
            <a:endParaRPr lang="en-US" sz="2650" dirty="0"/>
          </a:p>
        </p:txBody>
      </p:sp>
      <p:sp>
        <p:nvSpPr>
          <p:cNvPr id="10" name="Text 7"/>
          <p:cNvSpPr/>
          <p:nvPr/>
        </p:nvSpPr>
        <p:spPr>
          <a:xfrm>
            <a:off x="793790" y="6534388"/>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479846" y="2223730"/>
            <a:ext cx="5670590" cy="708779"/>
          </a:xfrm>
          <a:prstGeom prst="rect">
            <a:avLst/>
          </a:prstGeom>
          <a:noFill/>
          <a:ln/>
        </p:spPr>
        <p:txBody>
          <a:bodyPr wrap="none" lIns="0" tIns="0" rIns="0" bIns="0" rtlCol="0" anchor="t"/>
          <a:lstStyle/>
          <a:p>
            <a:pPr marL="0" indent="0" algn="ctr">
              <a:lnSpc>
                <a:spcPts val="5550"/>
              </a:lnSpc>
              <a:buNone/>
            </a:pPr>
            <a:r>
              <a:rPr lang="en-US" sz="4450" b="1" dirty="0">
                <a:solidFill>
                  <a:srgbClr val="D8B6A4"/>
                </a:solidFill>
                <a:latin typeface="Gelasio" pitchFamily="34" charset="0"/>
                <a:ea typeface="Gelasio" pitchFamily="34" charset="-122"/>
                <a:cs typeface="Gelasio" pitchFamily="34" charset="-120"/>
              </a:rPr>
              <a:t>Presenting to</a:t>
            </a:r>
            <a:endParaRPr lang="en-US" sz="4450" dirty="0"/>
          </a:p>
        </p:txBody>
      </p:sp>
      <p:sp>
        <p:nvSpPr>
          <p:cNvPr id="3" name="Text 1"/>
          <p:cNvSpPr/>
          <p:nvPr/>
        </p:nvSpPr>
        <p:spPr>
          <a:xfrm>
            <a:off x="5614035" y="3023235"/>
            <a:ext cx="3402330" cy="425291"/>
          </a:xfrm>
          <a:prstGeom prst="rect">
            <a:avLst/>
          </a:prstGeom>
          <a:noFill/>
          <a:ln/>
        </p:spPr>
        <p:txBody>
          <a:bodyPr wrap="none" lIns="0" tIns="0" rIns="0" bIns="0" rtlCol="0" anchor="t"/>
          <a:lstStyle/>
          <a:p>
            <a:pPr marL="0" indent="0" algn="ctr">
              <a:lnSpc>
                <a:spcPts val="3300"/>
              </a:lnSpc>
              <a:buNone/>
            </a:pPr>
            <a:r>
              <a:rPr lang="en-US" sz="2650" b="1" dirty="0">
                <a:solidFill>
                  <a:srgbClr val="D8B6A4"/>
                </a:solidFill>
                <a:latin typeface="Gelasio" pitchFamily="34" charset="0"/>
                <a:ea typeface="Gelasio" pitchFamily="34" charset="-122"/>
                <a:cs typeface="Gelasio" pitchFamily="34" charset="-120"/>
              </a:rPr>
              <a:t>Jaodun Muntasir</a:t>
            </a:r>
            <a:endParaRPr lang="en-US" sz="2650" dirty="0"/>
          </a:p>
        </p:txBody>
      </p:sp>
      <p:sp>
        <p:nvSpPr>
          <p:cNvPr id="4" name="Text 2"/>
          <p:cNvSpPr/>
          <p:nvPr/>
        </p:nvSpPr>
        <p:spPr>
          <a:xfrm>
            <a:off x="793790" y="3788688"/>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C9C2C0"/>
                </a:solidFill>
                <a:latin typeface="Gelasio" pitchFamily="34" charset="0"/>
                <a:ea typeface="Gelasio" pitchFamily="34" charset="-122"/>
                <a:cs typeface="Gelasio" pitchFamily="34" charset="-120"/>
              </a:rPr>
              <a:t>Lecturer</a:t>
            </a:r>
            <a:endParaRPr lang="en-US" sz="1750" dirty="0"/>
          </a:p>
        </p:txBody>
      </p:sp>
      <p:sp>
        <p:nvSpPr>
          <p:cNvPr id="5" name="Text 3"/>
          <p:cNvSpPr/>
          <p:nvPr/>
        </p:nvSpPr>
        <p:spPr>
          <a:xfrm>
            <a:off x="793790" y="4406741"/>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C9C2C0"/>
                </a:solidFill>
                <a:latin typeface="Gelasio" pitchFamily="34" charset="0"/>
                <a:ea typeface="Gelasio" pitchFamily="34" charset="-122"/>
                <a:cs typeface="Gelasio" pitchFamily="34" charset="-120"/>
              </a:rPr>
              <a:t>Department of Software Engineering</a:t>
            </a:r>
            <a:endParaRPr lang="en-US" sz="1750" dirty="0"/>
          </a:p>
        </p:txBody>
      </p:sp>
      <p:sp>
        <p:nvSpPr>
          <p:cNvPr id="6" name="Text 4"/>
          <p:cNvSpPr/>
          <p:nvPr/>
        </p:nvSpPr>
        <p:spPr>
          <a:xfrm>
            <a:off x="793790" y="5024795"/>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C9C2C0"/>
                </a:solidFill>
                <a:latin typeface="Gelasio" pitchFamily="34" charset="0"/>
                <a:ea typeface="Gelasio" pitchFamily="34" charset="-122"/>
                <a:cs typeface="Gelasio" pitchFamily="34" charset="-120"/>
              </a:rPr>
              <a:t>Faculty of Science and Information Technology</a:t>
            </a:r>
            <a:endParaRPr lang="en-US" sz="1750" dirty="0"/>
          </a:p>
        </p:txBody>
      </p:sp>
      <p:sp>
        <p:nvSpPr>
          <p:cNvPr id="7" name="Text 5"/>
          <p:cNvSpPr/>
          <p:nvPr/>
        </p:nvSpPr>
        <p:spPr>
          <a:xfrm>
            <a:off x="793790" y="5642848"/>
            <a:ext cx="13042821" cy="362903"/>
          </a:xfrm>
          <a:prstGeom prst="rect">
            <a:avLst/>
          </a:prstGeom>
          <a:noFill/>
          <a:ln/>
        </p:spPr>
        <p:txBody>
          <a:bodyPr wrap="none" lIns="0" tIns="0" rIns="0" bIns="0" rtlCol="0" anchor="t"/>
          <a:lstStyle/>
          <a:p>
            <a:pPr marL="0" indent="0" algn="ctr">
              <a:lnSpc>
                <a:spcPts val="2850"/>
              </a:lnSpc>
              <a:buNone/>
            </a:pPr>
            <a:r>
              <a:rPr lang="en-US" sz="1750" dirty="0">
                <a:solidFill>
                  <a:srgbClr val="C9C2C0"/>
                </a:solidFill>
                <a:latin typeface="Gelasio" pitchFamily="34" charset="0"/>
                <a:ea typeface="Gelasio" pitchFamily="34" charset="-122"/>
                <a:cs typeface="Gelasio" pitchFamily="34" charset="-120"/>
              </a:rPr>
              <a:t>Daffodil International University</a:t>
            </a:r>
            <a:endParaRPr lang="en-US" sz="1750" dirty="0"/>
          </a:p>
        </p:txBody>
      </p:sp>
      <p:sp>
        <p:nvSpPr>
          <p:cNvPr id="8" name="TextBox 7"/>
          <p:cNvSpPr txBox="1"/>
          <p:nvPr/>
        </p:nvSpPr>
        <p:spPr>
          <a:xfrm>
            <a:off x="0" y="7680960"/>
            <a:ext cx="14630400" cy="515497"/>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2757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Overview</a:t>
            </a:r>
            <a:endParaRPr lang="en-US" sz="4450" dirty="0"/>
          </a:p>
        </p:txBody>
      </p:sp>
      <p:sp>
        <p:nvSpPr>
          <p:cNvPr id="3" name="Shape 1"/>
          <p:cNvSpPr/>
          <p:nvPr/>
        </p:nvSpPr>
        <p:spPr>
          <a:xfrm>
            <a:off x="793790" y="1789986"/>
            <a:ext cx="510302" cy="510302"/>
          </a:xfrm>
          <a:prstGeom prst="roundRect">
            <a:avLst>
              <a:gd name="adj" fmla="val 6667"/>
            </a:avLst>
          </a:prstGeom>
          <a:solidFill>
            <a:srgbClr val="373433"/>
          </a:solidFill>
          <a:ln/>
        </p:spPr>
      </p:sp>
      <p:sp>
        <p:nvSpPr>
          <p:cNvPr id="4" name="Text 2"/>
          <p:cNvSpPr/>
          <p:nvPr/>
        </p:nvSpPr>
        <p:spPr>
          <a:xfrm>
            <a:off x="878860" y="1832491"/>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1</a:t>
            </a:r>
            <a:endParaRPr lang="en-US" sz="2650" dirty="0"/>
          </a:p>
        </p:txBody>
      </p:sp>
      <p:sp>
        <p:nvSpPr>
          <p:cNvPr id="5" name="Text 3"/>
          <p:cNvSpPr/>
          <p:nvPr/>
        </p:nvSpPr>
        <p:spPr>
          <a:xfrm>
            <a:off x="1530906" y="1863685"/>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Main Menu: Central hub providing access to all system features and navigation options.</a:t>
            </a:r>
            <a:endParaRPr lang="en-US" sz="1750" dirty="0"/>
          </a:p>
        </p:txBody>
      </p:sp>
      <p:sp>
        <p:nvSpPr>
          <p:cNvPr id="6" name="Shape 4"/>
          <p:cNvSpPr/>
          <p:nvPr/>
        </p:nvSpPr>
        <p:spPr>
          <a:xfrm>
            <a:off x="7456884" y="1789986"/>
            <a:ext cx="510302" cy="510302"/>
          </a:xfrm>
          <a:prstGeom prst="roundRect">
            <a:avLst>
              <a:gd name="adj" fmla="val 6667"/>
            </a:avLst>
          </a:prstGeom>
          <a:solidFill>
            <a:srgbClr val="373433"/>
          </a:solidFill>
          <a:ln/>
        </p:spPr>
      </p:sp>
      <p:sp>
        <p:nvSpPr>
          <p:cNvPr id="7" name="Text 5"/>
          <p:cNvSpPr/>
          <p:nvPr/>
        </p:nvSpPr>
        <p:spPr>
          <a:xfrm>
            <a:off x="7541955" y="1832491"/>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2</a:t>
            </a:r>
            <a:endParaRPr lang="en-US" sz="2650" dirty="0"/>
          </a:p>
        </p:txBody>
      </p:sp>
      <p:sp>
        <p:nvSpPr>
          <p:cNvPr id="8" name="Text 6"/>
          <p:cNvSpPr/>
          <p:nvPr/>
        </p:nvSpPr>
        <p:spPr>
          <a:xfrm>
            <a:off x="8194000" y="1863685"/>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Add new vehicle: Allows users to register and intake new vehicles into the system with complete details.</a:t>
            </a:r>
            <a:endParaRPr lang="en-US" sz="1750" dirty="0"/>
          </a:p>
        </p:txBody>
      </p:sp>
      <p:sp>
        <p:nvSpPr>
          <p:cNvPr id="9" name="Shape 7"/>
          <p:cNvSpPr/>
          <p:nvPr/>
        </p:nvSpPr>
        <p:spPr>
          <a:xfrm>
            <a:off x="793790" y="3043118"/>
            <a:ext cx="510302" cy="510302"/>
          </a:xfrm>
          <a:prstGeom prst="roundRect">
            <a:avLst>
              <a:gd name="adj" fmla="val 6667"/>
            </a:avLst>
          </a:prstGeom>
          <a:solidFill>
            <a:srgbClr val="373433"/>
          </a:solidFill>
          <a:ln/>
        </p:spPr>
      </p:sp>
      <p:sp>
        <p:nvSpPr>
          <p:cNvPr id="10" name="Text 8"/>
          <p:cNvSpPr/>
          <p:nvPr/>
        </p:nvSpPr>
        <p:spPr>
          <a:xfrm>
            <a:off x="878860" y="3085624"/>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3</a:t>
            </a:r>
            <a:endParaRPr lang="en-US" sz="2650" dirty="0"/>
          </a:p>
        </p:txBody>
      </p:sp>
      <p:sp>
        <p:nvSpPr>
          <p:cNvPr id="11" name="Text 9"/>
          <p:cNvSpPr/>
          <p:nvPr/>
        </p:nvSpPr>
        <p:spPr>
          <a:xfrm>
            <a:off x="1530906" y="3116818"/>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Search Info: Enables quick retrieval of vehicle and customer information using various search criteria.</a:t>
            </a:r>
            <a:endParaRPr lang="en-US" sz="1750" dirty="0"/>
          </a:p>
        </p:txBody>
      </p:sp>
      <p:sp>
        <p:nvSpPr>
          <p:cNvPr id="12" name="Shape 10"/>
          <p:cNvSpPr/>
          <p:nvPr/>
        </p:nvSpPr>
        <p:spPr>
          <a:xfrm>
            <a:off x="7456884" y="3043118"/>
            <a:ext cx="510302" cy="510302"/>
          </a:xfrm>
          <a:prstGeom prst="roundRect">
            <a:avLst>
              <a:gd name="adj" fmla="val 6667"/>
            </a:avLst>
          </a:prstGeom>
          <a:solidFill>
            <a:srgbClr val="373433"/>
          </a:solidFill>
          <a:ln/>
        </p:spPr>
      </p:sp>
      <p:sp>
        <p:nvSpPr>
          <p:cNvPr id="13" name="Text 11"/>
          <p:cNvSpPr/>
          <p:nvPr/>
        </p:nvSpPr>
        <p:spPr>
          <a:xfrm>
            <a:off x="7541955" y="3085624"/>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4</a:t>
            </a:r>
            <a:endParaRPr lang="en-US" sz="2650" dirty="0"/>
          </a:p>
        </p:txBody>
      </p:sp>
      <p:sp>
        <p:nvSpPr>
          <p:cNvPr id="14" name="Text 12"/>
          <p:cNvSpPr/>
          <p:nvPr/>
        </p:nvSpPr>
        <p:spPr>
          <a:xfrm>
            <a:off x="8194000" y="3116818"/>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Update Info: Permits modification and editing of existing vehicle and customer records.</a:t>
            </a:r>
            <a:endParaRPr lang="en-US" sz="1750" dirty="0"/>
          </a:p>
        </p:txBody>
      </p:sp>
      <p:sp>
        <p:nvSpPr>
          <p:cNvPr id="15" name="Shape 13"/>
          <p:cNvSpPr/>
          <p:nvPr/>
        </p:nvSpPr>
        <p:spPr>
          <a:xfrm>
            <a:off x="793790" y="4296251"/>
            <a:ext cx="510302" cy="510302"/>
          </a:xfrm>
          <a:prstGeom prst="roundRect">
            <a:avLst>
              <a:gd name="adj" fmla="val 6667"/>
            </a:avLst>
          </a:prstGeom>
          <a:solidFill>
            <a:srgbClr val="373433"/>
          </a:solidFill>
          <a:ln/>
        </p:spPr>
      </p:sp>
      <p:sp>
        <p:nvSpPr>
          <p:cNvPr id="16" name="Text 14"/>
          <p:cNvSpPr/>
          <p:nvPr/>
        </p:nvSpPr>
        <p:spPr>
          <a:xfrm>
            <a:off x="878860" y="433875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5</a:t>
            </a:r>
            <a:endParaRPr lang="en-US" sz="2650" dirty="0"/>
          </a:p>
        </p:txBody>
      </p:sp>
      <p:sp>
        <p:nvSpPr>
          <p:cNvPr id="17" name="Text 15"/>
          <p:cNvSpPr/>
          <p:nvPr/>
        </p:nvSpPr>
        <p:spPr>
          <a:xfrm>
            <a:off x="1530906" y="4369951"/>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Delete: Removes outdated or erroneous vehicle and customer records from the system.</a:t>
            </a:r>
            <a:endParaRPr lang="en-US" sz="1750" dirty="0"/>
          </a:p>
        </p:txBody>
      </p:sp>
      <p:sp>
        <p:nvSpPr>
          <p:cNvPr id="18" name="Shape 16"/>
          <p:cNvSpPr/>
          <p:nvPr/>
        </p:nvSpPr>
        <p:spPr>
          <a:xfrm>
            <a:off x="7456884" y="4296251"/>
            <a:ext cx="510302" cy="510302"/>
          </a:xfrm>
          <a:prstGeom prst="roundRect">
            <a:avLst>
              <a:gd name="adj" fmla="val 6667"/>
            </a:avLst>
          </a:prstGeom>
          <a:solidFill>
            <a:srgbClr val="373433"/>
          </a:solidFill>
          <a:ln/>
        </p:spPr>
      </p:sp>
      <p:sp>
        <p:nvSpPr>
          <p:cNvPr id="19" name="Text 17"/>
          <p:cNvSpPr/>
          <p:nvPr/>
        </p:nvSpPr>
        <p:spPr>
          <a:xfrm>
            <a:off x="7541955" y="4338757"/>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6</a:t>
            </a:r>
            <a:endParaRPr lang="en-US" sz="2650" dirty="0"/>
          </a:p>
        </p:txBody>
      </p:sp>
      <p:sp>
        <p:nvSpPr>
          <p:cNvPr id="20" name="Text 18"/>
          <p:cNvSpPr/>
          <p:nvPr/>
        </p:nvSpPr>
        <p:spPr>
          <a:xfrm>
            <a:off x="8194000" y="4369951"/>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Service Status: Displays real-time updates on the current status of ongoing repair jobs.</a:t>
            </a:r>
            <a:endParaRPr lang="en-US" sz="1750" dirty="0"/>
          </a:p>
        </p:txBody>
      </p:sp>
      <p:sp>
        <p:nvSpPr>
          <p:cNvPr id="21" name="Shape 19"/>
          <p:cNvSpPr/>
          <p:nvPr/>
        </p:nvSpPr>
        <p:spPr>
          <a:xfrm>
            <a:off x="793790" y="5549384"/>
            <a:ext cx="510302" cy="510302"/>
          </a:xfrm>
          <a:prstGeom prst="roundRect">
            <a:avLst>
              <a:gd name="adj" fmla="val 6667"/>
            </a:avLst>
          </a:prstGeom>
          <a:solidFill>
            <a:srgbClr val="373433"/>
          </a:solidFill>
          <a:ln/>
        </p:spPr>
      </p:sp>
      <p:sp>
        <p:nvSpPr>
          <p:cNvPr id="22" name="Text 20"/>
          <p:cNvSpPr/>
          <p:nvPr/>
        </p:nvSpPr>
        <p:spPr>
          <a:xfrm>
            <a:off x="878860" y="5591889"/>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7</a:t>
            </a:r>
            <a:endParaRPr lang="en-US" sz="2650" dirty="0"/>
          </a:p>
        </p:txBody>
      </p:sp>
      <p:sp>
        <p:nvSpPr>
          <p:cNvPr id="23" name="Text 21"/>
          <p:cNvSpPr/>
          <p:nvPr/>
        </p:nvSpPr>
        <p:spPr>
          <a:xfrm>
            <a:off x="1530906" y="5623084"/>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Add Notes: Allows technicians to document observations, progress, and issues during service work.</a:t>
            </a:r>
            <a:endParaRPr lang="en-US" sz="1750" dirty="0"/>
          </a:p>
        </p:txBody>
      </p:sp>
      <p:sp>
        <p:nvSpPr>
          <p:cNvPr id="24" name="Shape 22"/>
          <p:cNvSpPr/>
          <p:nvPr/>
        </p:nvSpPr>
        <p:spPr>
          <a:xfrm>
            <a:off x="7456884" y="5549384"/>
            <a:ext cx="510302" cy="510302"/>
          </a:xfrm>
          <a:prstGeom prst="roundRect">
            <a:avLst>
              <a:gd name="adj" fmla="val 6667"/>
            </a:avLst>
          </a:prstGeom>
          <a:solidFill>
            <a:srgbClr val="373433"/>
          </a:solidFill>
          <a:ln/>
        </p:spPr>
      </p:sp>
      <p:sp>
        <p:nvSpPr>
          <p:cNvPr id="25" name="Text 23"/>
          <p:cNvSpPr/>
          <p:nvPr/>
        </p:nvSpPr>
        <p:spPr>
          <a:xfrm>
            <a:off x="7541955" y="5591889"/>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8</a:t>
            </a:r>
            <a:endParaRPr lang="en-US" sz="2650" dirty="0"/>
          </a:p>
        </p:txBody>
      </p:sp>
      <p:sp>
        <p:nvSpPr>
          <p:cNvPr id="26" name="Text 24"/>
          <p:cNvSpPr/>
          <p:nvPr/>
        </p:nvSpPr>
        <p:spPr>
          <a:xfrm>
            <a:off x="8194000" y="5623084"/>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Bill Count: Tracks and manages billing information and payment records for completed services.</a:t>
            </a:r>
            <a:endParaRPr lang="en-US" sz="1750" dirty="0"/>
          </a:p>
        </p:txBody>
      </p:sp>
      <p:sp>
        <p:nvSpPr>
          <p:cNvPr id="27" name="Shape 25"/>
          <p:cNvSpPr/>
          <p:nvPr/>
        </p:nvSpPr>
        <p:spPr>
          <a:xfrm>
            <a:off x="793790" y="6802517"/>
            <a:ext cx="510302" cy="510302"/>
          </a:xfrm>
          <a:prstGeom prst="roundRect">
            <a:avLst>
              <a:gd name="adj" fmla="val 6667"/>
            </a:avLst>
          </a:prstGeom>
          <a:solidFill>
            <a:srgbClr val="373433"/>
          </a:solidFill>
          <a:ln/>
        </p:spPr>
      </p:sp>
      <p:sp>
        <p:nvSpPr>
          <p:cNvPr id="28" name="Text 26"/>
          <p:cNvSpPr/>
          <p:nvPr/>
        </p:nvSpPr>
        <p:spPr>
          <a:xfrm>
            <a:off x="878860" y="684502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9</a:t>
            </a:r>
            <a:endParaRPr lang="en-US" sz="2650" dirty="0"/>
          </a:p>
        </p:txBody>
      </p:sp>
      <p:sp>
        <p:nvSpPr>
          <p:cNvPr id="29" name="Text 27"/>
          <p:cNvSpPr/>
          <p:nvPr/>
        </p:nvSpPr>
        <p:spPr>
          <a:xfrm>
            <a:off x="1530906" y="6876217"/>
            <a:ext cx="5642491"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Display: Shows comprehensive reports and summaries of vehicle data and service history.</a:t>
            </a:r>
            <a:endParaRPr lang="en-US" sz="1750" dirty="0"/>
          </a:p>
        </p:txBody>
      </p:sp>
      <p:sp>
        <p:nvSpPr>
          <p:cNvPr id="30" name="Shape 28"/>
          <p:cNvSpPr/>
          <p:nvPr/>
        </p:nvSpPr>
        <p:spPr>
          <a:xfrm>
            <a:off x="7456884" y="6802517"/>
            <a:ext cx="510302" cy="510302"/>
          </a:xfrm>
          <a:prstGeom prst="roundRect">
            <a:avLst>
              <a:gd name="adj" fmla="val 6667"/>
            </a:avLst>
          </a:prstGeom>
          <a:solidFill>
            <a:srgbClr val="373433"/>
          </a:solidFill>
          <a:ln/>
        </p:spPr>
      </p:sp>
      <p:sp>
        <p:nvSpPr>
          <p:cNvPr id="31" name="Text 29"/>
          <p:cNvSpPr/>
          <p:nvPr/>
        </p:nvSpPr>
        <p:spPr>
          <a:xfrm>
            <a:off x="7541955" y="6845022"/>
            <a:ext cx="340162" cy="425291"/>
          </a:xfrm>
          <a:prstGeom prst="rect">
            <a:avLst/>
          </a:prstGeom>
          <a:noFill/>
          <a:ln/>
        </p:spPr>
        <p:txBody>
          <a:bodyPr wrap="none" lIns="0" tIns="0" rIns="0" bIns="0" rtlCol="0" anchor="t"/>
          <a:lstStyle/>
          <a:p>
            <a:pPr marL="0" indent="0" algn="ctr">
              <a:lnSpc>
                <a:spcPts val="2650"/>
              </a:lnSpc>
              <a:buNone/>
            </a:pPr>
            <a:r>
              <a:rPr lang="en-US" sz="2650" dirty="0">
                <a:solidFill>
                  <a:srgbClr val="C9C2C0"/>
                </a:solidFill>
                <a:latin typeface="Gelasio" pitchFamily="34" charset="0"/>
                <a:ea typeface="Gelasio" pitchFamily="34" charset="-122"/>
                <a:cs typeface="Gelasio" pitchFamily="34" charset="-120"/>
              </a:rPr>
              <a:t>10</a:t>
            </a:r>
            <a:endParaRPr lang="en-US" sz="2650" dirty="0"/>
          </a:p>
        </p:txBody>
      </p:sp>
      <p:sp>
        <p:nvSpPr>
          <p:cNvPr id="32" name="Text 30"/>
          <p:cNvSpPr/>
          <p:nvPr/>
        </p:nvSpPr>
        <p:spPr>
          <a:xfrm>
            <a:off x="8194000" y="6876217"/>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C9C2C0"/>
                </a:solidFill>
                <a:latin typeface="Gelasio" pitchFamily="34" charset="0"/>
                <a:ea typeface="Gelasio" pitchFamily="34" charset="-122"/>
                <a:cs typeface="Gelasio" pitchFamily="34" charset="-120"/>
              </a:rPr>
              <a:t>Parts Used: Records and tracks all parts consumed during repairs for inventory and billing purposes.</a:t>
            </a:r>
            <a:endParaRPr lang="en-US" sz="1750" dirty="0"/>
          </a:p>
        </p:txBody>
      </p:sp>
      <p:sp>
        <p:nvSpPr>
          <p:cNvPr id="33" name="TextBox 32"/>
          <p:cNvSpPr txBox="1"/>
          <p:nvPr/>
        </p:nvSpPr>
        <p:spPr>
          <a:xfrm>
            <a:off x="0" y="7742283"/>
            <a:ext cx="14630400" cy="369332"/>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464342">
              <a:alpha val="80000"/>
            </a:srgbClr>
          </a:solidFill>
          <a:ln/>
        </p:spPr>
      </p:sp>
      <p:sp>
        <p:nvSpPr>
          <p:cNvPr id="4" name="Text 1"/>
          <p:cNvSpPr/>
          <p:nvPr/>
        </p:nvSpPr>
        <p:spPr>
          <a:xfrm>
            <a:off x="4479846" y="1776293"/>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D8B6A4"/>
                </a:solidFill>
                <a:latin typeface="Gelasio" pitchFamily="34" charset="0"/>
                <a:ea typeface="Gelasio" pitchFamily="34" charset="-122"/>
                <a:cs typeface="Gelasio" pitchFamily="34" charset="-120"/>
              </a:rPr>
              <a:t>System Goal</a:t>
            </a:r>
            <a:endParaRPr lang="en-US" sz="4450" dirty="0"/>
          </a:p>
        </p:txBody>
      </p:sp>
      <p:sp>
        <p:nvSpPr>
          <p:cNvPr id="5" name="Text 2"/>
          <p:cNvSpPr/>
          <p:nvPr/>
        </p:nvSpPr>
        <p:spPr>
          <a:xfrm>
            <a:off x="793790" y="2825234"/>
            <a:ext cx="13042821" cy="3628072"/>
          </a:xfrm>
          <a:prstGeom prst="rect">
            <a:avLst/>
          </a:prstGeom>
          <a:noFill/>
          <a:ln/>
        </p:spPr>
        <p:txBody>
          <a:bodyPr wrap="square" lIns="0" tIns="0" rIns="0" bIns="0" rtlCol="0" anchor="t"/>
          <a:lstStyle/>
          <a:p>
            <a:pPr marL="0" indent="0" algn="l">
              <a:lnSpc>
                <a:spcPts val="3550"/>
              </a:lnSpc>
              <a:buNone/>
            </a:pPr>
            <a:r>
              <a:rPr lang="en-US" sz="2200" dirty="0">
                <a:solidFill>
                  <a:srgbClr val="C9C2C0"/>
                </a:solidFill>
                <a:latin typeface="Gelasio" pitchFamily="34" charset="0"/>
                <a:ea typeface="Gelasio" pitchFamily="34" charset="-122"/>
                <a:cs typeface="Gelasio" pitchFamily="34" charset="-120"/>
              </a:rPr>
              <a:t>The goal of the Garage Service Management System is to create an efficient, reliable, and automated platform for managing all core operations of an auto repair garage. This system aims to streamline vehicle intake, track service progress, and ensure accurate logging of diagnostics, repairs, and spare parts usage. By utilizing structured record-keeping and file handling in C, it reduces manual errors and enhances data security. The system also seeks to simplify billing through automated invoice generation and maintain comprehensive service histories for future reference. Ultimately, it improves workflow efficiency, transparency, and customer satisfaction through organized and traceable service management.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96835" y="368123"/>
            <a:ext cx="2268260" cy="566976"/>
          </a:xfrm>
          <a:prstGeom prst="rect">
            <a:avLst/>
          </a:prstGeom>
          <a:noFill/>
          <a:ln/>
        </p:spPr>
        <p:txBody>
          <a:bodyPr wrap="square" lIns="0" tIns="0" rIns="0" bIns="0" rtlCol="0" anchor="t"/>
          <a:lstStyle/>
          <a:p>
            <a:pPr marL="0" indent="0" algn="l">
              <a:buNone/>
            </a:pPr>
            <a:r>
              <a:rPr lang="en-US" sz="2400" b="1" dirty="0">
                <a:solidFill>
                  <a:srgbClr val="D8B6A4"/>
                </a:solidFill>
                <a:latin typeface="Gelasio" pitchFamily="34" charset="0"/>
                <a:ea typeface="Gelasio" pitchFamily="34" charset="-122"/>
                <a:cs typeface="Gelasio" pitchFamily="34" charset="-120"/>
              </a:rPr>
              <a:t>System Demonstration</a:t>
            </a:r>
            <a:endParaRPr lang="en-US" sz="2400" dirty="0"/>
          </a:p>
        </p:txBody>
      </p:sp>
      <p:sp>
        <p:nvSpPr>
          <p:cNvPr id="3" name="Text 1"/>
          <p:cNvSpPr/>
          <p:nvPr/>
        </p:nvSpPr>
        <p:spPr>
          <a:xfrm>
            <a:off x="396835" y="1150858"/>
            <a:ext cx="6780014" cy="453628"/>
          </a:xfrm>
          <a:prstGeom prst="rect">
            <a:avLst/>
          </a:prstGeom>
          <a:noFill/>
          <a:ln/>
        </p:spPr>
        <p:txBody>
          <a:bodyPr wrap="square" lIns="0" tIns="0" rIns="0" bIns="0" rtlCol="0" anchor="t"/>
          <a:lstStyle/>
          <a:p>
            <a:pPr marL="0" indent="0" algn="l">
              <a:lnSpc>
                <a:spcPts val="1750"/>
              </a:lnSpc>
              <a:buNone/>
            </a:pPr>
            <a:endParaRPr lang="en-US" sz="1100" dirty="0">
              <a:solidFill>
                <a:srgbClr val="C9C2C0"/>
              </a:solidFill>
              <a:latin typeface="Gelasio" pitchFamily="34" charset="0"/>
              <a:ea typeface="Gelasio" pitchFamily="34" charset="-122"/>
              <a:cs typeface="Gelasio" pitchFamily="34" charset="-120"/>
            </a:endParaRPr>
          </a:p>
          <a:p>
            <a:pPr marL="0" indent="0" algn="l">
              <a:lnSpc>
                <a:spcPct val="150000"/>
              </a:lnSpc>
              <a:buNone/>
            </a:pPr>
            <a:r>
              <a:rPr lang="en-US" sz="1600" dirty="0">
                <a:solidFill>
                  <a:srgbClr val="C9C2C0"/>
                </a:solidFill>
                <a:latin typeface="Gelasio" pitchFamily="34" charset="0"/>
                <a:ea typeface="Gelasio" pitchFamily="34" charset="-122"/>
                <a:cs typeface="Gelasio" pitchFamily="34" charset="-120"/>
              </a:rPr>
              <a:t>The main menu of the garage service management system displays four options: Admin Login, Technician Login, Customer Login using a Service ID, and Save &amp; Exit. </a:t>
            </a:r>
            <a:endParaRPr lang="en-US" sz="1600" dirty="0"/>
          </a:p>
        </p:txBody>
      </p:sp>
      <p:sp>
        <p:nvSpPr>
          <p:cNvPr id="4" name="Text 2"/>
          <p:cNvSpPr/>
          <p:nvPr/>
        </p:nvSpPr>
        <p:spPr>
          <a:xfrm>
            <a:off x="396835" y="1706523"/>
            <a:ext cx="6780014" cy="226814"/>
          </a:xfrm>
          <a:prstGeom prst="rect">
            <a:avLst/>
          </a:prstGeom>
          <a:noFill/>
          <a:ln/>
        </p:spPr>
        <p:txBody>
          <a:bodyPr wrap="none" lIns="0" tIns="0" rIns="0" bIns="0" rtlCol="0" anchor="t"/>
          <a:lstStyle/>
          <a:p>
            <a:pPr marL="0" indent="0" algn="l">
              <a:lnSpc>
                <a:spcPts val="1750"/>
              </a:lnSpc>
              <a:buNone/>
            </a:pPr>
            <a:endParaRPr lang="en-US" sz="1100" dirty="0"/>
          </a:p>
        </p:txBody>
      </p:sp>
      <p:sp>
        <p:nvSpPr>
          <p:cNvPr id="5" name="Text 3"/>
          <p:cNvSpPr/>
          <p:nvPr/>
        </p:nvSpPr>
        <p:spPr>
          <a:xfrm>
            <a:off x="396835" y="2035373"/>
            <a:ext cx="6780014" cy="226814"/>
          </a:xfrm>
          <a:prstGeom prst="rect">
            <a:avLst/>
          </a:prstGeom>
          <a:noFill/>
          <a:ln/>
        </p:spPr>
        <p:txBody>
          <a:bodyPr wrap="none" lIns="0" tIns="0" rIns="0" bIns="0" rtlCol="0" anchor="t"/>
          <a:lstStyle/>
          <a:p>
            <a:pPr marL="0" indent="0" algn="l">
              <a:lnSpc>
                <a:spcPts val="1750"/>
              </a:lnSpc>
              <a:buNone/>
            </a:pPr>
            <a:endParaRPr lang="en-US" sz="1100" dirty="0"/>
          </a:p>
        </p:txBody>
      </p:sp>
      <p:sp>
        <p:nvSpPr>
          <p:cNvPr id="6" name="Text 4"/>
          <p:cNvSpPr/>
          <p:nvPr/>
        </p:nvSpPr>
        <p:spPr>
          <a:xfrm>
            <a:off x="396835" y="2364224"/>
            <a:ext cx="6780014" cy="226814"/>
          </a:xfrm>
          <a:prstGeom prst="rect">
            <a:avLst/>
          </a:prstGeom>
          <a:noFill/>
          <a:ln/>
        </p:spPr>
        <p:txBody>
          <a:bodyPr wrap="none" lIns="0" tIns="0" rIns="0" bIns="0" rtlCol="0" anchor="t"/>
          <a:lstStyle/>
          <a:p>
            <a:pPr marL="0" indent="0" algn="l">
              <a:lnSpc>
                <a:spcPts val="1750"/>
              </a:lnSpc>
              <a:buNone/>
            </a:pPr>
            <a:endParaRPr lang="en-US" sz="1100" dirty="0"/>
          </a:p>
        </p:txBody>
      </p:sp>
      <p:sp>
        <p:nvSpPr>
          <p:cNvPr id="7" name="Text 5"/>
          <p:cNvSpPr/>
          <p:nvPr/>
        </p:nvSpPr>
        <p:spPr>
          <a:xfrm>
            <a:off x="396835" y="2693074"/>
            <a:ext cx="6780014" cy="695019"/>
          </a:xfrm>
          <a:prstGeom prst="rect">
            <a:avLst/>
          </a:prstGeom>
          <a:noFill/>
          <a:ln/>
        </p:spPr>
        <p:txBody>
          <a:bodyPr wrap="none" lIns="0" tIns="0" rIns="0" bIns="0" rtlCol="0" anchor="t"/>
          <a:lstStyle/>
          <a:p>
            <a:pPr marL="0" indent="0" algn="l">
              <a:lnSpc>
                <a:spcPct val="150000"/>
              </a:lnSpc>
              <a:buNone/>
            </a:pPr>
            <a:r>
              <a:rPr lang="en-US" sz="1100" dirty="0">
                <a:solidFill>
                  <a:srgbClr val="C9C2C0"/>
                </a:solidFill>
                <a:latin typeface="Gelasio" pitchFamily="34" charset="0"/>
                <a:ea typeface="Gelasio" pitchFamily="34" charset="-122"/>
                <a:cs typeface="Gelasio" pitchFamily="34" charset="-120"/>
              </a:rPr>
              <a:t> </a:t>
            </a:r>
            <a:r>
              <a:rPr lang="en-US" sz="1600" dirty="0">
                <a:solidFill>
                  <a:srgbClr val="C9C2C0"/>
                </a:solidFill>
                <a:latin typeface="Gelasio" pitchFamily="34" charset="0"/>
                <a:ea typeface="Gelasio" pitchFamily="34" charset="-122"/>
                <a:cs typeface="Gelasio" pitchFamily="34" charset="-120"/>
              </a:rPr>
              <a:t>After entering choice, the system asks for the password for its safety and</a:t>
            </a:r>
          </a:p>
          <a:p>
            <a:pPr marL="0" indent="0" algn="l">
              <a:lnSpc>
                <a:spcPct val="150000"/>
              </a:lnSpc>
              <a:buNone/>
            </a:pPr>
            <a:r>
              <a:rPr lang="en-US" sz="1600" dirty="0">
                <a:solidFill>
                  <a:srgbClr val="C9C2C0"/>
                </a:solidFill>
                <a:latin typeface="Gelasio" pitchFamily="34" charset="0"/>
                <a:ea typeface="Gelasio" pitchFamily="34" charset="-122"/>
                <a:cs typeface="Gelasio" pitchFamily="34" charset="-120"/>
              </a:rPr>
              <a:t>protection. </a:t>
            </a:r>
            <a:endParaRPr lang="en-US" sz="1100" dirty="0">
              <a:solidFill>
                <a:srgbClr val="C9C2C0"/>
              </a:solidFill>
              <a:latin typeface="Gelasio" pitchFamily="34" charset="0"/>
              <a:ea typeface="Gelasio" pitchFamily="34" charset="-122"/>
              <a:cs typeface="Gelasio" pitchFamily="34" charset="-120"/>
            </a:endParaRPr>
          </a:p>
          <a:p>
            <a:pPr marL="0" indent="0" algn="l">
              <a:lnSpc>
                <a:spcPts val="1750"/>
              </a:lnSpc>
              <a:buNone/>
            </a:pPr>
            <a:endParaRPr lang="en-US" sz="1100" dirty="0">
              <a:solidFill>
                <a:srgbClr val="C9C2C0"/>
              </a:solidFill>
              <a:latin typeface="Gelasio" pitchFamily="34" charset="0"/>
              <a:ea typeface="Gelasio" pitchFamily="34" charset="-122"/>
              <a:cs typeface="Gelasio" pitchFamily="34" charset="-120"/>
            </a:endParaRPr>
          </a:p>
          <a:p>
            <a:pPr marL="0" indent="0" algn="l">
              <a:lnSpc>
                <a:spcPts val="1750"/>
              </a:lnSpc>
              <a:buNone/>
            </a:pPr>
            <a:r>
              <a:rPr lang="en-US" sz="1100" dirty="0">
                <a:solidFill>
                  <a:srgbClr val="C9C2C0"/>
                </a:solidFill>
                <a:latin typeface="Gelasio" pitchFamily="34" charset="0"/>
                <a:ea typeface="Gelasio" pitchFamily="34" charset="-122"/>
                <a:cs typeface="Gelasio" pitchFamily="34" charset="-120"/>
              </a:rPr>
              <a:t> </a:t>
            </a:r>
            <a:endParaRPr lang="en-US" sz="1100" dirty="0"/>
          </a:p>
        </p:txBody>
      </p:sp>
      <p:sp>
        <p:nvSpPr>
          <p:cNvPr id="8" name="Text 6"/>
          <p:cNvSpPr/>
          <p:nvPr/>
        </p:nvSpPr>
        <p:spPr>
          <a:xfrm>
            <a:off x="396835" y="4145975"/>
            <a:ext cx="6780014" cy="1609932"/>
          </a:xfrm>
          <a:prstGeom prst="rect">
            <a:avLst/>
          </a:prstGeom>
          <a:noFill/>
          <a:ln/>
        </p:spPr>
        <p:txBody>
          <a:bodyPr wrap="square" lIns="0" tIns="0" rIns="0" bIns="0" rtlCol="0" anchor="t"/>
          <a:lstStyle/>
          <a:p>
            <a:pPr marL="0" indent="0" algn="l">
              <a:lnSpc>
                <a:spcPct val="150000"/>
              </a:lnSpc>
              <a:buNone/>
            </a:pPr>
            <a:r>
              <a:rPr lang="en-US" sz="1600" dirty="0">
                <a:solidFill>
                  <a:srgbClr val="C9C2C0"/>
                </a:solidFill>
                <a:latin typeface="Gelasio" pitchFamily="34" charset="0"/>
                <a:ea typeface="Gelasio" pitchFamily="34" charset="-122"/>
                <a:cs typeface="Gelasio" pitchFamily="34" charset="-120"/>
              </a:rPr>
              <a:t>After entering the admin password, the system grants access to the Admin Menu of the Garage Service Management program. It displays ten options, including adding vehicles, searching, updating, deleting records, checking service status, adding notes, generating bills, viewing data, tracking parts used, and returning to the main menu.</a:t>
            </a:r>
            <a:endParaRPr lang="en-US" sz="1600" dirty="0"/>
          </a:p>
        </p:txBody>
      </p:sp>
      <p:pic>
        <p:nvPicPr>
          <p:cNvPr id="9" name="Image 0" descr="preencoded.png"/>
          <p:cNvPicPr>
            <a:picLocks noChangeAspect="1"/>
          </p:cNvPicPr>
          <p:nvPr/>
        </p:nvPicPr>
        <p:blipFill>
          <a:blip r:embed="rId3"/>
          <a:stretch>
            <a:fillRect/>
          </a:stretch>
        </p:blipFill>
        <p:spPr>
          <a:xfrm>
            <a:off x="7461171" y="1176337"/>
            <a:ext cx="4221837" cy="3104674"/>
          </a:xfrm>
          <a:prstGeom prst="rect">
            <a:avLst/>
          </a:prstGeom>
        </p:spPr>
      </p:pic>
      <p:sp>
        <p:nvSpPr>
          <p:cNvPr id="10" name="Text 7"/>
          <p:cNvSpPr/>
          <p:nvPr/>
        </p:nvSpPr>
        <p:spPr>
          <a:xfrm>
            <a:off x="7461171" y="4408527"/>
            <a:ext cx="6780014" cy="181451"/>
          </a:xfrm>
          <a:prstGeom prst="rect">
            <a:avLst/>
          </a:prstGeom>
          <a:noFill/>
          <a:ln/>
        </p:spPr>
        <p:txBody>
          <a:bodyPr wrap="none" lIns="0" tIns="0" rIns="0" bIns="0" rtlCol="0" anchor="t"/>
          <a:lstStyle/>
          <a:p>
            <a:pPr marL="0" indent="0" algn="l">
              <a:lnSpc>
                <a:spcPts val="1400"/>
              </a:lnSpc>
              <a:buNone/>
            </a:pPr>
            <a:endParaRPr lang="en-US" sz="850" dirty="0"/>
          </a:p>
        </p:txBody>
      </p:sp>
      <p:pic>
        <p:nvPicPr>
          <p:cNvPr id="11" name="Image 1" descr="preencoded.png"/>
          <p:cNvPicPr>
            <a:picLocks noChangeAspect="1"/>
          </p:cNvPicPr>
          <p:nvPr/>
        </p:nvPicPr>
        <p:blipFill>
          <a:blip r:embed="rId3"/>
          <a:stretch>
            <a:fillRect/>
          </a:stretch>
        </p:blipFill>
        <p:spPr>
          <a:xfrm>
            <a:off x="10019348" y="4717494"/>
            <a:ext cx="4221837" cy="3104674"/>
          </a:xfrm>
          <a:prstGeom prst="rect">
            <a:avLst/>
          </a:prstGeom>
        </p:spPr>
      </p:pic>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1202" y="424137"/>
            <a:ext cx="7389198" cy="3856874"/>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41202" y="4408527"/>
            <a:ext cx="7389198" cy="3821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2783" y="1417339"/>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D8B6A4"/>
                </a:solidFill>
                <a:latin typeface="Gelasio" pitchFamily="34" charset="0"/>
                <a:ea typeface="Gelasio" pitchFamily="34" charset="-122"/>
                <a:cs typeface="Gelasio" pitchFamily="34" charset="-120"/>
              </a:rPr>
              <a:t>Add New Vehicle</a:t>
            </a:r>
            <a:endParaRPr lang="en-US" sz="3550" dirty="0"/>
          </a:p>
        </p:txBody>
      </p:sp>
      <p:sp>
        <p:nvSpPr>
          <p:cNvPr id="3" name="Text 1"/>
          <p:cNvSpPr/>
          <p:nvPr/>
        </p:nvSpPr>
        <p:spPr>
          <a:xfrm>
            <a:off x="413861" y="3661291"/>
            <a:ext cx="7604284" cy="1814036"/>
          </a:xfrm>
          <a:prstGeom prst="rect">
            <a:avLst/>
          </a:prstGeom>
          <a:noFill/>
          <a:ln/>
        </p:spPr>
        <p:txBody>
          <a:bodyPr wrap="square" lIns="0" tIns="0" rIns="0" bIns="0" rtlCol="0" anchor="t"/>
          <a:lstStyle/>
          <a:p>
            <a:pPr marL="0" indent="0" algn="l">
              <a:lnSpc>
                <a:spcPts val="3550"/>
              </a:lnSpc>
              <a:buNone/>
            </a:pPr>
            <a:r>
              <a:rPr lang="en-US" sz="2200" dirty="0">
                <a:solidFill>
                  <a:srgbClr val="C9C2C0"/>
                </a:solidFill>
                <a:latin typeface="Gelasio" pitchFamily="34" charset="0"/>
                <a:ea typeface="Gelasio" pitchFamily="34" charset="-122"/>
                <a:cs typeface="Gelasio" pitchFamily="34" charset="-120"/>
              </a:rPr>
              <a:t>The "Add New Vehicle" function in a Garage Service Management System allows the user to input information about a new customer &amp; his vehicle details into the system's database.</a:t>
            </a:r>
            <a:endParaRPr lang="en-US" sz="2200" dirty="0"/>
          </a:p>
        </p:txBody>
      </p:sp>
      <p:pic>
        <p:nvPicPr>
          <p:cNvPr id="4" name="Image 0" descr="preencoded.png"/>
          <p:cNvPicPr>
            <a:picLocks noChangeAspect="1"/>
          </p:cNvPicPr>
          <p:nvPr/>
        </p:nvPicPr>
        <p:blipFill>
          <a:blip r:embed="rId3"/>
          <a:stretch>
            <a:fillRect/>
          </a:stretch>
        </p:blipFill>
        <p:spPr>
          <a:xfrm>
            <a:off x="8959096" y="2772132"/>
            <a:ext cx="4885015" cy="3592354"/>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18145" y="2721053"/>
            <a:ext cx="6612255" cy="3970421"/>
          </a:xfrm>
          <a:prstGeom prst="rect">
            <a:avLst/>
          </a:prstGeom>
        </p:spPr>
      </p:pic>
      <p:sp>
        <p:nvSpPr>
          <p:cNvPr id="6" name="TextBox 5"/>
          <p:cNvSpPr txBox="1"/>
          <p:nvPr/>
        </p:nvSpPr>
        <p:spPr>
          <a:xfrm>
            <a:off x="0" y="7778999"/>
            <a:ext cx="14630400" cy="369332"/>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300091" y="1109424"/>
            <a:ext cx="4536519" cy="566976"/>
          </a:xfrm>
          <a:prstGeom prst="rect">
            <a:avLst/>
          </a:prstGeom>
          <a:noFill/>
          <a:ln/>
        </p:spPr>
        <p:txBody>
          <a:bodyPr wrap="none" lIns="0" tIns="0" rIns="0" bIns="0" rtlCol="0" anchor="t"/>
          <a:lstStyle/>
          <a:p>
            <a:pPr marL="0" indent="0" algn="r">
              <a:lnSpc>
                <a:spcPts val="4450"/>
              </a:lnSpc>
              <a:buNone/>
            </a:pPr>
            <a:r>
              <a:rPr lang="en-US" sz="3550" b="1" dirty="0">
                <a:solidFill>
                  <a:srgbClr val="D8B6A4"/>
                </a:solidFill>
                <a:latin typeface="Gelasio" pitchFamily="34" charset="0"/>
                <a:ea typeface="Gelasio" pitchFamily="34" charset="-122"/>
                <a:cs typeface="Gelasio" pitchFamily="34" charset="-120"/>
              </a:rPr>
              <a:t>Search Info</a:t>
            </a:r>
            <a:endParaRPr lang="en-US" sz="3550" dirty="0"/>
          </a:p>
        </p:txBody>
      </p:sp>
      <p:pic>
        <p:nvPicPr>
          <p:cNvPr id="3" name="Image 0" descr="preencoded.png"/>
          <p:cNvPicPr>
            <a:picLocks noChangeAspect="1"/>
          </p:cNvPicPr>
          <p:nvPr/>
        </p:nvPicPr>
        <p:blipFill>
          <a:blip r:embed="rId3"/>
          <a:stretch>
            <a:fillRect/>
          </a:stretch>
        </p:blipFill>
        <p:spPr>
          <a:xfrm>
            <a:off x="793790" y="2271713"/>
            <a:ext cx="6246019" cy="4593193"/>
          </a:xfrm>
          <a:prstGeom prst="rect">
            <a:avLst/>
          </a:prstGeom>
        </p:spPr>
      </p:pic>
      <p:sp>
        <p:nvSpPr>
          <p:cNvPr id="4" name="Text 1"/>
          <p:cNvSpPr/>
          <p:nvPr/>
        </p:nvSpPr>
        <p:spPr>
          <a:xfrm>
            <a:off x="7600831" y="2908409"/>
            <a:ext cx="6243280" cy="3174563"/>
          </a:xfrm>
          <a:prstGeom prst="rect">
            <a:avLst/>
          </a:prstGeom>
          <a:noFill/>
          <a:ln/>
        </p:spPr>
        <p:txBody>
          <a:bodyPr wrap="square" lIns="0" tIns="0" rIns="0" bIns="0" rtlCol="0" anchor="t"/>
          <a:lstStyle/>
          <a:p>
            <a:pPr marL="0" indent="0" algn="l">
              <a:lnSpc>
                <a:spcPts val="3550"/>
              </a:lnSpc>
              <a:buNone/>
            </a:pPr>
            <a:r>
              <a:rPr lang="en-US" sz="2200" dirty="0">
                <a:solidFill>
                  <a:srgbClr val="C9C2C0"/>
                </a:solidFill>
                <a:latin typeface="Gelasio" pitchFamily="34" charset="0"/>
                <a:ea typeface="Gelasio" pitchFamily="34" charset="-122"/>
                <a:cs typeface="Gelasio" pitchFamily="34" charset="-120"/>
              </a:rPr>
              <a:t>The "Search Info" function lets the admin quickly find a vehicle/service record. It offers three search methods: by service ID, by customer name (substring match), or by vehicle name (substring match). After selecting a method and entering a query, it displays the matching record’s ID, customer, phone, vehicle, and service status.</a:t>
            </a:r>
            <a:endParaRPr lang="en-US" sz="2200" dirty="0"/>
          </a:p>
        </p:txBody>
      </p:sp>
      <p:sp>
        <p:nvSpPr>
          <p:cNvPr id="8" name="TextBox 7"/>
          <p:cNvSpPr txBox="1"/>
          <p:nvPr/>
        </p:nvSpPr>
        <p:spPr>
          <a:xfrm>
            <a:off x="0" y="7757962"/>
            <a:ext cx="14630400" cy="369332"/>
          </a:xfrm>
          <a:prstGeom prst="rect">
            <a:avLst/>
          </a:prstGeom>
          <a:solidFill>
            <a:schemeClr val="tx1">
              <a:lumMod val="75000"/>
              <a:lumOff val="25000"/>
            </a:schemeClr>
          </a:solidFill>
        </p:spPr>
        <p:txBody>
          <a:bodyPr wrap="square" rtlCol="0">
            <a:spAutoFit/>
          </a:bodyPr>
          <a:lstStyle/>
          <a:p>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3424" y="2271712"/>
            <a:ext cx="6581775" cy="459319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137172"/>
          </a:xfrm>
          <a:prstGeom prst="rect">
            <a:avLst/>
          </a:prstGeom>
        </p:spPr>
      </p:pic>
      <p:sp>
        <p:nvSpPr>
          <p:cNvPr id="3" name="Text 0"/>
          <p:cNvSpPr/>
          <p:nvPr/>
        </p:nvSpPr>
        <p:spPr>
          <a:xfrm>
            <a:off x="598408" y="2608659"/>
            <a:ext cx="3419475" cy="427434"/>
          </a:xfrm>
          <a:prstGeom prst="rect">
            <a:avLst/>
          </a:prstGeom>
          <a:noFill/>
          <a:ln/>
        </p:spPr>
        <p:txBody>
          <a:bodyPr wrap="none" lIns="0" tIns="0" rIns="0" bIns="0" rtlCol="0" anchor="t"/>
          <a:lstStyle/>
          <a:p>
            <a:pPr marL="0" indent="0" algn="l">
              <a:lnSpc>
                <a:spcPts val="3350"/>
              </a:lnSpc>
              <a:buNone/>
            </a:pPr>
            <a:r>
              <a:rPr lang="en-US" sz="2650" dirty="0">
                <a:solidFill>
                  <a:srgbClr val="D8B6A4"/>
                </a:solidFill>
                <a:latin typeface="Gelasio" pitchFamily="34" charset="0"/>
                <a:ea typeface="Gelasio" pitchFamily="34" charset="-122"/>
                <a:cs typeface="Gelasio" pitchFamily="34" charset="-120"/>
              </a:rPr>
              <a:t>Update Info &amp; Delete</a:t>
            </a:r>
            <a:endParaRPr lang="en-US" sz="2650" dirty="0"/>
          </a:p>
        </p:txBody>
      </p:sp>
      <p:sp>
        <p:nvSpPr>
          <p:cNvPr id="4" name="Text 1"/>
          <p:cNvSpPr/>
          <p:nvPr/>
        </p:nvSpPr>
        <p:spPr>
          <a:xfrm>
            <a:off x="598408" y="3292554"/>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The goal of the Garage Service Management System is to create an efficient, </a:t>
            </a:r>
            <a:endParaRPr lang="en-US" sz="1300" dirty="0"/>
          </a:p>
        </p:txBody>
      </p:sp>
      <p:sp>
        <p:nvSpPr>
          <p:cNvPr id="5" name="Text 2"/>
          <p:cNvSpPr/>
          <p:nvPr/>
        </p:nvSpPr>
        <p:spPr>
          <a:xfrm>
            <a:off x="598408" y="3758327"/>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reliable, and automated platform for managing all core operations of an auto</a:t>
            </a:r>
            <a:endParaRPr lang="en-US" sz="1300" dirty="0"/>
          </a:p>
        </p:txBody>
      </p:sp>
      <p:sp>
        <p:nvSpPr>
          <p:cNvPr id="6" name="Text 3"/>
          <p:cNvSpPr/>
          <p:nvPr/>
        </p:nvSpPr>
        <p:spPr>
          <a:xfrm>
            <a:off x="598408" y="4224099"/>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 repair garage. This system aims to streamline vehicle intake, track service </a:t>
            </a:r>
            <a:endParaRPr lang="en-US" sz="1300" dirty="0"/>
          </a:p>
        </p:txBody>
      </p:sp>
      <p:sp>
        <p:nvSpPr>
          <p:cNvPr id="7" name="Text 4"/>
          <p:cNvSpPr/>
          <p:nvPr/>
        </p:nvSpPr>
        <p:spPr>
          <a:xfrm>
            <a:off x="598408" y="4689872"/>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progress, and ensure accurate logging of diagnostics, repairs, and spare parts </a:t>
            </a:r>
            <a:endParaRPr lang="en-US" sz="1300" dirty="0"/>
          </a:p>
        </p:txBody>
      </p:sp>
      <p:sp>
        <p:nvSpPr>
          <p:cNvPr id="8" name="Text 5"/>
          <p:cNvSpPr/>
          <p:nvPr/>
        </p:nvSpPr>
        <p:spPr>
          <a:xfrm>
            <a:off x="598408" y="5155644"/>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usage. By utilizing structured record-keeping and file handling in C, it reduces</a:t>
            </a:r>
            <a:endParaRPr lang="en-US" sz="1300" dirty="0"/>
          </a:p>
        </p:txBody>
      </p:sp>
      <p:sp>
        <p:nvSpPr>
          <p:cNvPr id="9" name="Text 6"/>
          <p:cNvSpPr/>
          <p:nvPr/>
        </p:nvSpPr>
        <p:spPr>
          <a:xfrm>
            <a:off x="598408" y="5621417"/>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manual errors and enhances data security.</a:t>
            </a:r>
            <a:endParaRPr lang="en-US" sz="1300" dirty="0"/>
          </a:p>
        </p:txBody>
      </p:sp>
      <p:sp>
        <p:nvSpPr>
          <p:cNvPr id="10" name="Text 7"/>
          <p:cNvSpPr/>
          <p:nvPr/>
        </p:nvSpPr>
        <p:spPr>
          <a:xfrm>
            <a:off x="598408" y="6087189"/>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The delete option removes unwanted or incorrect vehicle service records using</a:t>
            </a:r>
            <a:endParaRPr lang="en-US" sz="1300" dirty="0"/>
          </a:p>
        </p:txBody>
      </p:sp>
      <p:sp>
        <p:nvSpPr>
          <p:cNvPr id="11" name="Text 8"/>
          <p:cNvSpPr/>
          <p:nvPr/>
        </p:nvSpPr>
        <p:spPr>
          <a:xfrm>
            <a:off x="598408" y="6552962"/>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the unique vehicle ID. It helps keep the system clean and accurate by skipping</a:t>
            </a:r>
            <a:endParaRPr lang="en-US" sz="1300" dirty="0"/>
          </a:p>
        </p:txBody>
      </p:sp>
      <p:sp>
        <p:nvSpPr>
          <p:cNvPr id="12" name="Text 9"/>
          <p:cNvSpPr/>
          <p:nvPr/>
        </p:nvSpPr>
        <p:spPr>
          <a:xfrm>
            <a:off x="598408" y="7018734"/>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the selected record and rewriting the remaining data back into the file. This ensures</a:t>
            </a:r>
            <a:endParaRPr lang="en-US" sz="1300" dirty="0"/>
          </a:p>
        </p:txBody>
      </p:sp>
      <p:sp>
        <p:nvSpPr>
          <p:cNvPr id="13" name="Text 10"/>
          <p:cNvSpPr/>
          <p:nvPr/>
        </p:nvSpPr>
        <p:spPr>
          <a:xfrm>
            <a:off x="598408" y="7484507"/>
            <a:ext cx="13433584" cy="273487"/>
          </a:xfrm>
          <a:prstGeom prst="rect">
            <a:avLst/>
          </a:prstGeom>
          <a:noFill/>
          <a:ln/>
        </p:spPr>
        <p:txBody>
          <a:bodyPr wrap="none" lIns="0" tIns="0" rIns="0" bIns="0" rtlCol="0" anchor="t"/>
          <a:lstStyle/>
          <a:p>
            <a:pPr marL="0" indent="0" algn="l">
              <a:lnSpc>
                <a:spcPts val="2150"/>
              </a:lnSpc>
              <a:buNone/>
            </a:pPr>
            <a:r>
              <a:rPr lang="en-US" sz="1300" dirty="0">
                <a:solidFill>
                  <a:srgbClr val="C9C2C0"/>
                </a:solidFill>
                <a:latin typeface="Gelasio" pitchFamily="34" charset="0"/>
                <a:ea typeface="Gelasio" pitchFamily="34" charset="-122"/>
                <a:cs typeface="Gelasio" pitchFamily="34" charset="-120"/>
              </a:rPr>
              <a:t> organized and error-free data management.</a:t>
            </a:r>
            <a:endParaRPr lang="en-US" sz="1300"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30188" y="5347476"/>
            <a:ext cx="7700212" cy="2886527"/>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30188" y="2137172"/>
            <a:ext cx="7700212" cy="311178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8629" y="361712"/>
            <a:ext cx="2621042" cy="327541"/>
          </a:xfrm>
          <a:prstGeom prst="rect">
            <a:avLst/>
          </a:prstGeom>
          <a:noFill/>
          <a:ln/>
        </p:spPr>
        <p:txBody>
          <a:bodyPr wrap="none" lIns="0" tIns="0" rIns="0" bIns="0" rtlCol="0" anchor="t"/>
          <a:lstStyle/>
          <a:p>
            <a:pPr marL="0" indent="0" algn="l">
              <a:lnSpc>
                <a:spcPts val="2550"/>
              </a:lnSpc>
              <a:buNone/>
            </a:pPr>
            <a:r>
              <a:rPr lang="en-US" sz="2050" dirty="0">
                <a:solidFill>
                  <a:srgbClr val="D8B6A4"/>
                </a:solidFill>
                <a:latin typeface="Gelasio" pitchFamily="34" charset="0"/>
                <a:ea typeface="Gelasio" pitchFamily="34" charset="-122"/>
                <a:cs typeface="Gelasio" pitchFamily="34" charset="-120"/>
              </a:rPr>
              <a:t>Service Status</a:t>
            </a:r>
            <a:endParaRPr lang="en-US" sz="2050" dirty="0"/>
          </a:p>
        </p:txBody>
      </p:sp>
      <p:sp>
        <p:nvSpPr>
          <p:cNvPr id="3" name="Shape 1"/>
          <p:cNvSpPr/>
          <p:nvPr/>
        </p:nvSpPr>
        <p:spPr>
          <a:xfrm>
            <a:off x="458629" y="885825"/>
            <a:ext cx="6791087" cy="1283970"/>
          </a:xfrm>
          <a:prstGeom prst="roundRect">
            <a:avLst>
              <a:gd name="adj" fmla="val 1531"/>
            </a:avLst>
          </a:prstGeom>
          <a:solidFill>
            <a:srgbClr val="373433"/>
          </a:solidFill>
          <a:ln/>
        </p:spPr>
      </p:sp>
      <p:sp>
        <p:nvSpPr>
          <p:cNvPr id="4" name="Shape 2"/>
          <p:cNvSpPr/>
          <p:nvPr/>
        </p:nvSpPr>
        <p:spPr>
          <a:xfrm>
            <a:off x="589598" y="1016794"/>
            <a:ext cx="393144" cy="393144"/>
          </a:xfrm>
          <a:prstGeom prst="roundRect">
            <a:avLst>
              <a:gd name="adj" fmla="val 23256327"/>
            </a:avLst>
          </a:prstGeom>
          <a:solidFill>
            <a:srgbClr val="C49F8C"/>
          </a:solidFill>
          <a:ln/>
        </p:spPr>
      </p:sp>
      <p:sp>
        <p:nvSpPr>
          <p:cNvPr id="5" name="Text 3"/>
          <p:cNvSpPr/>
          <p:nvPr/>
        </p:nvSpPr>
        <p:spPr>
          <a:xfrm>
            <a:off x="589598" y="1540907"/>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Inspection</a:t>
            </a:r>
            <a:endParaRPr lang="en-US" sz="1050" dirty="0"/>
          </a:p>
        </p:txBody>
      </p:sp>
      <p:sp>
        <p:nvSpPr>
          <p:cNvPr id="6" name="Text 4"/>
          <p:cNvSpPr/>
          <p:nvPr/>
        </p:nvSpPr>
        <p:spPr>
          <a:xfrm>
            <a:off x="589598" y="1829157"/>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The vehicle is being initially checked to identify visible issues or required services</a:t>
            </a:r>
            <a:endParaRPr lang="en-US" sz="1050" dirty="0"/>
          </a:p>
        </p:txBody>
      </p:sp>
      <p:sp>
        <p:nvSpPr>
          <p:cNvPr id="7" name="Shape 5"/>
          <p:cNvSpPr/>
          <p:nvPr/>
        </p:nvSpPr>
        <p:spPr>
          <a:xfrm>
            <a:off x="7380684" y="885825"/>
            <a:ext cx="6791087" cy="1283970"/>
          </a:xfrm>
          <a:prstGeom prst="roundRect">
            <a:avLst>
              <a:gd name="adj" fmla="val 1531"/>
            </a:avLst>
          </a:prstGeom>
          <a:solidFill>
            <a:srgbClr val="373433"/>
          </a:solidFill>
          <a:ln/>
        </p:spPr>
      </p:sp>
      <p:sp>
        <p:nvSpPr>
          <p:cNvPr id="8" name="Shape 6"/>
          <p:cNvSpPr/>
          <p:nvPr/>
        </p:nvSpPr>
        <p:spPr>
          <a:xfrm>
            <a:off x="7511653" y="1016794"/>
            <a:ext cx="393144" cy="393144"/>
          </a:xfrm>
          <a:prstGeom prst="roundRect">
            <a:avLst>
              <a:gd name="adj" fmla="val 23256327"/>
            </a:avLst>
          </a:prstGeom>
          <a:solidFill>
            <a:srgbClr val="C49F8C"/>
          </a:solidFill>
          <a:ln/>
        </p:spPr>
      </p:sp>
      <p:pic>
        <p:nvPicPr>
          <p:cNvPr id="9"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19762" y="1124903"/>
            <a:ext cx="176808" cy="176808"/>
          </a:xfrm>
          <a:prstGeom prst="rect">
            <a:avLst/>
          </a:prstGeom>
        </p:spPr>
      </p:pic>
      <p:sp>
        <p:nvSpPr>
          <p:cNvPr id="10" name="Text 7"/>
          <p:cNvSpPr/>
          <p:nvPr/>
        </p:nvSpPr>
        <p:spPr>
          <a:xfrm>
            <a:off x="7511653" y="1540907"/>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Diagnosis</a:t>
            </a:r>
            <a:endParaRPr lang="en-US" sz="1050" dirty="0"/>
          </a:p>
        </p:txBody>
      </p:sp>
      <p:sp>
        <p:nvSpPr>
          <p:cNvPr id="11" name="Text 8"/>
          <p:cNvSpPr/>
          <p:nvPr/>
        </p:nvSpPr>
        <p:spPr>
          <a:xfrm>
            <a:off x="7511653" y="1829157"/>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The mechanic is analyzing the problem in detail to determine the exact faults.</a:t>
            </a:r>
            <a:endParaRPr lang="en-US" sz="1050" dirty="0"/>
          </a:p>
        </p:txBody>
      </p:sp>
      <p:sp>
        <p:nvSpPr>
          <p:cNvPr id="12" name="Shape 9"/>
          <p:cNvSpPr/>
          <p:nvPr/>
        </p:nvSpPr>
        <p:spPr>
          <a:xfrm>
            <a:off x="458629" y="2300764"/>
            <a:ext cx="6791087" cy="1283970"/>
          </a:xfrm>
          <a:prstGeom prst="roundRect">
            <a:avLst>
              <a:gd name="adj" fmla="val 1531"/>
            </a:avLst>
          </a:prstGeom>
          <a:solidFill>
            <a:srgbClr val="373433"/>
          </a:solidFill>
          <a:ln/>
        </p:spPr>
      </p:sp>
      <p:sp>
        <p:nvSpPr>
          <p:cNvPr id="13" name="Shape 10"/>
          <p:cNvSpPr/>
          <p:nvPr/>
        </p:nvSpPr>
        <p:spPr>
          <a:xfrm>
            <a:off x="589598" y="2431733"/>
            <a:ext cx="393144" cy="393144"/>
          </a:xfrm>
          <a:prstGeom prst="roundRect">
            <a:avLst>
              <a:gd name="adj" fmla="val 23256327"/>
            </a:avLst>
          </a:prstGeom>
          <a:solidFill>
            <a:srgbClr val="C49F8C"/>
          </a:solidFill>
          <a:ln/>
        </p:spPr>
      </p:sp>
      <p:sp>
        <p:nvSpPr>
          <p:cNvPr id="14" name="Text 11"/>
          <p:cNvSpPr/>
          <p:nvPr/>
        </p:nvSpPr>
        <p:spPr>
          <a:xfrm>
            <a:off x="589598" y="2955846"/>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Repairing</a:t>
            </a:r>
            <a:endParaRPr lang="en-US" sz="1050" dirty="0"/>
          </a:p>
        </p:txBody>
      </p:sp>
      <p:sp>
        <p:nvSpPr>
          <p:cNvPr id="15" name="Text 12"/>
          <p:cNvSpPr/>
          <p:nvPr/>
        </p:nvSpPr>
        <p:spPr>
          <a:xfrm>
            <a:off x="589598" y="3244096"/>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The identified issues are actively being fixed or parts replaced</a:t>
            </a:r>
            <a:r>
              <a:rPr lang="en-US" sz="1000" dirty="0">
                <a:solidFill>
                  <a:srgbClr val="C9C2C0"/>
                </a:solidFill>
                <a:latin typeface="Gelasio" pitchFamily="34" charset="0"/>
                <a:ea typeface="Gelasio" pitchFamily="34" charset="-122"/>
                <a:cs typeface="Gelasio" pitchFamily="34" charset="-120"/>
              </a:rPr>
              <a:t>.</a:t>
            </a:r>
            <a:endParaRPr lang="en-US" sz="1000" dirty="0"/>
          </a:p>
        </p:txBody>
      </p:sp>
      <p:sp>
        <p:nvSpPr>
          <p:cNvPr id="16" name="Shape 13"/>
          <p:cNvSpPr/>
          <p:nvPr/>
        </p:nvSpPr>
        <p:spPr>
          <a:xfrm>
            <a:off x="7380684" y="2300764"/>
            <a:ext cx="6791087" cy="1283970"/>
          </a:xfrm>
          <a:prstGeom prst="roundRect">
            <a:avLst>
              <a:gd name="adj" fmla="val 1531"/>
            </a:avLst>
          </a:prstGeom>
          <a:solidFill>
            <a:srgbClr val="373433"/>
          </a:solidFill>
          <a:ln/>
        </p:spPr>
      </p:sp>
      <p:sp>
        <p:nvSpPr>
          <p:cNvPr id="17" name="Shape 14"/>
          <p:cNvSpPr/>
          <p:nvPr/>
        </p:nvSpPr>
        <p:spPr>
          <a:xfrm>
            <a:off x="7511653" y="2431733"/>
            <a:ext cx="393144" cy="393144"/>
          </a:xfrm>
          <a:prstGeom prst="roundRect">
            <a:avLst>
              <a:gd name="adj" fmla="val 23256327"/>
            </a:avLst>
          </a:prstGeom>
          <a:solidFill>
            <a:srgbClr val="C49F8C"/>
          </a:solidFill>
          <a:ln/>
        </p:spPr>
      </p:sp>
      <p:pic>
        <p:nvPicPr>
          <p:cNvPr id="1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19762" y="2539841"/>
            <a:ext cx="176808" cy="176808"/>
          </a:xfrm>
          <a:prstGeom prst="rect">
            <a:avLst/>
          </a:prstGeom>
        </p:spPr>
      </p:pic>
      <p:sp>
        <p:nvSpPr>
          <p:cNvPr id="19" name="Text 15"/>
          <p:cNvSpPr/>
          <p:nvPr/>
        </p:nvSpPr>
        <p:spPr>
          <a:xfrm>
            <a:off x="7511653" y="2955846"/>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Completed</a:t>
            </a:r>
            <a:endParaRPr lang="en-US" sz="1050" dirty="0"/>
          </a:p>
        </p:txBody>
      </p:sp>
      <p:sp>
        <p:nvSpPr>
          <p:cNvPr id="20" name="Text 16"/>
          <p:cNvSpPr/>
          <p:nvPr/>
        </p:nvSpPr>
        <p:spPr>
          <a:xfrm>
            <a:off x="7511653" y="3244096"/>
            <a:ext cx="6529149" cy="209669"/>
          </a:xfrm>
          <a:prstGeom prst="rect">
            <a:avLst/>
          </a:prstGeom>
          <a:noFill/>
          <a:ln/>
        </p:spPr>
        <p:txBody>
          <a:bodyPr wrap="none" lIns="0" tIns="0" rIns="0" bIns="0" rtlCol="0" anchor="t"/>
          <a:lstStyle/>
          <a:p>
            <a:pPr marL="0" indent="0" algn="l">
              <a:lnSpc>
                <a:spcPts val="1650"/>
              </a:lnSpc>
              <a:buNone/>
            </a:pPr>
            <a:r>
              <a:rPr lang="en-US" sz="1050" dirty="0">
                <a:solidFill>
                  <a:srgbClr val="C9C2C0"/>
                </a:solidFill>
                <a:latin typeface="Gelasio" pitchFamily="34" charset="0"/>
                <a:ea typeface="Gelasio" pitchFamily="34" charset="-122"/>
                <a:cs typeface="Gelasio" pitchFamily="34" charset="-120"/>
              </a:rPr>
              <a:t>All service tasks are finished, and the vehicle is ready for delivery.</a:t>
            </a:r>
            <a:endParaRPr lang="en-US" sz="1050" dirty="0"/>
          </a:p>
        </p:txBody>
      </p:sp>
      <p:sp>
        <p:nvSpPr>
          <p:cNvPr id="21" name="Text 17"/>
          <p:cNvSpPr/>
          <p:nvPr/>
        </p:nvSpPr>
        <p:spPr>
          <a:xfrm>
            <a:off x="599906" y="4630304"/>
            <a:ext cx="8113414" cy="653966"/>
          </a:xfrm>
          <a:prstGeom prst="rect">
            <a:avLst/>
          </a:prstGeom>
          <a:noFill/>
          <a:ln/>
        </p:spPr>
        <p:txBody>
          <a:bodyPr wrap="none" lIns="0" tIns="0" rIns="0" bIns="0" rtlCol="0" anchor="t"/>
          <a:lstStyle/>
          <a:p>
            <a:pPr marL="0" indent="0" algn="l">
              <a:lnSpc>
                <a:spcPct val="150000"/>
              </a:lnSpc>
              <a:buNone/>
            </a:pPr>
            <a:r>
              <a:rPr lang="en-US" sz="1400" dirty="0">
                <a:solidFill>
                  <a:srgbClr val="C9C2C0"/>
                </a:solidFill>
                <a:latin typeface="Gelasio" pitchFamily="34" charset="0"/>
                <a:ea typeface="Gelasio" pitchFamily="34" charset="-122"/>
                <a:cs typeface="Gelasio" pitchFamily="34" charset="-120"/>
              </a:rPr>
              <a:t>The </a:t>
            </a:r>
            <a:r>
              <a:rPr lang="en-US" sz="1400" b="1" dirty="0">
                <a:solidFill>
                  <a:srgbClr val="C9C2C0"/>
                </a:solidFill>
                <a:latin typeface="Gelasio" pitchFamily="34" charset="0"/>
                <a:ea typeface="Gelasio" pitchFamily="34" charset="-122"/>
                <a:cs typeface="Gelasio" pitchFamily="34" charset="-120"/>
              </a:rPr>
              <a:t>Service Status</a:t>
            </a:r>
            <a:r>
              <a:rPr lang="en-US" sz="1400" dirty="0">
                <a:solidFill>
                  <a:srgbClr val="C9C2C0"/>
                </a:solidFill>
                <a:latin typeface="Gelasio" pitchFamily="34" charset="0"/>
                <a:ea typeface="Gelasio" pitchFamily="34" charset="-122"/>
                <a:cs typeface="Gelasio" pitchFamily="34" charset="-120"/>
              </a:rPr>
              <a:t> function updates the progress stage of a vehicle’s service. </a:t>
            </a:r>
          </a:p>
          <a:p>
            <a:pPr marL="0" indent="0" algn="l">
              <a:lnSpc>
                <a:spcPct val="150000"/>
              </a:lnSpc>
              <a:buNone/>
            </a:pPr>
            <a:r>
              <a:rPr lang="en-US" sz="1400" dirty="0">
                <a:solidFill>
                  <a:srgbClr val="C9C2C0"/>
                </a:solidFill>
                <a:latin typeface="Gelasio" pitchFamily="34" charset="0"/>
                <a:ea typeface="Gelasio" pitchFamily="34" charset="-122"/>
                <a:cs typeface="Gelasio" pitchFamily="34" charset="-120"/>
              </a:rPr>
              <a:t>After entering a service ID, it shows the current</a:t>
            </a:r>
            <a:endParaRPr lang="en-US" sz="1400" dirty="0"/>
          </a:p>
        </p:txBody>
      </p:sp>
      <p:sp>
        <p:nvSpPr>
          <p:cNvPr id="22" name="Text 18"/>
          <p:cNvSpPr/>
          <p:nvPr/>
        </p:nvSpPr>
        <p:spPr>
          <a:xfrm>
            <a:off x="589598" y="5323500"/>
            <a:ext cx="7747654" cy="952902"/>
          </a:xfrm>
          <a:prstGeom prst="rect">
            <a:avLst/>
          </a:prstGeom>
          <a:noFill/>
          <a:ln/>
        </p:spPr>
        <p:txBody>
          <a:bodyPr wrap="none" lIns="0" tIns="0" rIns="0" bIns="0" rtlCol="0" anchor="t"/>
          <a:lstStyle/>
          <a:p>
            <a:pPr marL="0" indent="0" algn="l">
              <a:lnSpc>
                <a:spcPct val="150000"/>
              </a:lnSpc>
              <a:buNone/>
            </a:pPr>
            <a:r>
              <a:rPr lang="en-US" sz="1100" dirty="0">
                <a:solidFill>
                  <a:srgbClr val="C9C2C0"/>
                </a:solidFill>
                <a:latin typeface="Gelasio" pitchFamily="34" charset="0"/>
                <a:ea typeface="Gelasio" pitchFamily="34" charset="-122"/>
                <a:cs typeface="Gelasio" pitchFamily="34" charset="-120"/>
              </a:rPr>
              <a:t>s</a:t>
            </a:r>
            <a:r>
              <a:rPr lang="en-US" sz="1400" dirty="0">
                <a:solidFill>
                  <a:srgbClr val="C9C2C0"/>
                </a:solidFill>
                <a:latin typeface="Gelasio" pitchFamily="34" charset="0"/>
                <a:ea typeface="Gelasio" pitchFamily="34" charset="-122"/>
                <a:cs typeface="Gelasio" pitchFamily="34" charset="-120"/>
              </a:rPr>
              <a:t>tatus and provides options like Inspection, Diagnosis, Repairing, or Completed.</a:t>
            </a:r>
          </a:p>
          <a:p>
            <a:pPr marL="0" indent="0" algn="l">
              <a:lnSpc>
                <a:spcPct val="150000"/>
              </a:lnSpc>
              <a:buNone/>
            </a:pPr>
            <a:r>
              <a:rPr lang="en-US" sz="1400" dirty="0">
                <a:solidFill>
                  <a:srgbClr val="C9C2C0"/>
                </a:solidFill>
                <a:latin typeface="Gelasio" pitchFamily="34" charset="0"/>
                <a:ea typeface="Gelasio" pitchFamily="34" charset="-122"/>
                <a:cs typeface="Gelasio" pitchFamily="34" charset="-120"/>
              </a:rPr>
              <a:t>The admin selects a new status number, and the system saves the updated service stage for that record.</a:t>
            </a:r>
            <a:endParaRPr lang="en-US" sz="1400" dirty="0"/>
          </a:p>
        </p:txBody>
      </p:sp>
      <p:pic>
        <p:nvPicPr>
          <p:cNvPr id="23" name="Image 2" descr="preencoded.png"/>
          <p:cNvPicPr>
            <a:picLocks noChangeAspect="1"/>
          </p:cNvPicPr>
          <p:nvPr/>
        </p:nvPicPr>
        <p:blipFill>
          <a:blip r:embed="rId7"/>
          <a:stretch>
            <a:fillRect/>
          </a:stretch>
        </p:blipFill>
        <p:spPr>
          <a:xfrm>
            <a:off x="9433910" y="3879533"/>
            <a:ext cx="4070333" cy="3715880"/>
          </a:xfrm>
          <a:prstGeom prst="rect">
            <a:avLst/>
          </a:prstGeom>
        </p:spPr>
      </p:pic>
      <p:sp>
        <p:nvSpPr>
          <p:cNvPr id="24" name="Shape 19"/>
          <p:cNvSpPr/>
          <p:nvPr/>
        </p:nvSpPr>
        <p:spPr>
          <a:xfrm>
            <a:off x="458629" y="3732133"/>
            <a:ext cx="15240" cy="4135636"/>
          </a:xfrm>
          <a:prstGeom prst="rect">
            <a:avLst/>
          </a:prstGeom>
          <a:solidFill>
            <a:srgbClr val="C49F8C"/>
          </a:solidFill>
          <a:ln/>
        </p:spPr>
      </p:sp>
      <p:sp>
        <p:nvSpPr>
          <p:cNvPr id="25" name="TextBox 24"/>
          <p:cNvSpPr txBox="1"/>
          <p:nvPr/>
        </p:nvSpPr>
        <p:spPr>
          <a:xfrm>
            <a:off x="0" y="7770639"/>
            <a:ext cx="14630400" cy="369332"/>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7912" y="762275"/>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D8B6A4"/>
                </a:solidFill>
                <a:latin typeface="Gelasio" pitchFamily="34" charset="0"/>
                <a:ea typeface="Gelasio" pitchFamily="34" charset="-122"/>
                <a:cs typeface="Gelasio" pitchFamily="34" charset="-120"/>
              </a:rPr>
              <a:t>Add Note &amp; Bill Count</a:t>
            </a:r>
            <a:endParaRPr lang="en-US" sz="3550" dirty="0"/>
          </a:p>
        </p:txBody>
      </p:sp>
      <p:pic>
        <p:nvPicPr>
          <p:cNvPr id="3" name="Image 0" descr="preencoded.png"/>
          <p:cNvPicPr>
            <a:picLocks noChangeAspect="1"/>
          </p:cNvPicPr>
          <p:nvPr/>
        </p:nvPicPr>
        <p:blipFill>
          <a:blip r:embed="rId3"/>
          <a:stretch>
            <a:fillRect/>
          </a:stretch>
        </p:blipFill>
        <p:spPr>
          <a:xfrm>
            <a:off x="793790" y="2476620"/>
            <a:ext cx="2255639" cy="1190606"/>
          </a:xfrm>
          <a:prstGeom prst="rect">
            <a:avLst/>
          </a:prstGeom>
        </p:spPr>
      </p:pic>
      <p:sp>
        <p:nvSpPr>
          <p:cNvPr id="4" name="Text 1"/>
          <p:cNvSpPr/>
          <p:nvPr/>
        </p:nvSpPr>
        <p:spPr>
          <a:xfrm>
            <a:off x="8143280" y="1853190"/>
            <a:ext cx="5700832" cy="1814036"/>
          </a:xfrm>
          <a:prstGeom prst="rect">
            <a:avLst/>
          </a:prstGeom>
          <a:noFill/>
          <a:ln/>
        </p:spPr>
        <p:txBody>
          <a:bodyPr wrap="square" lIns="0" tIns="0" rIns="0" bIns="0" rtlCol="0" anchor="t"/>
          <a:lstStyle/>
          <a:p>
            <a:pPr marL="0" indent="0" algn="l">
              <a:lnSpc>
                <a:spcPts val="3550"/>
              </a:lnSpc>
              <a:buNone/>
            </a:pPr>
            <a:r>
              <a:rPr lang="en-US" sz="2200" dirty="0">
                <a:solidFill>
                  <a:srgbClr val="C9C2C0"/>
                </a:solidFill>
                <a:latin typeface="Gelasio" pitchFamily="34" charset="0"/>
                <a:ea typeface="Gelasio" pitchFamily="34" charset="-122"/>
                <a:cs typeface="Gelasio" pitchFamily="34" charset="-120"/>
              </a:rPr>
              <a:t>The </a:t>
            </a:r>
            <a:r>
              <a:rPr lang="en-US" sz="2200" b="1" dirty="0">
                <a:solidFill>
                  <a:srgbClr val="C9C2C0"/>
                </a:solidFill>
                <a:latin typeface="Gelasio" pitchFamily="34" charset="0"/>
                <a:ea typeface="Gelasio" pitchFamily="34" charset="-122"/>
                <a:cs typeface="Gelasio" pitchFamily="34" charset="-120"/>
              </a:rPr>
              <a:t>Add Notes</a:t>
            </a:r>
            <a:r>
              <a:rPr lang="en-US" sz="2200" dirty="0">
                <a:solidFill>
                  <a:srgbClr val="C9C2C0"/>
                </a:solidFill>
                <a:latin typeface="Gelasio" pitchFamily="34" charset="0"/>
                <a:ea typeface="Gelasio" pitchFamily="34" charset="-122"/>
                <a:cs typeface="Gelasio" pitchFamily="34" charset="-120"/>
              </a:rPr>
              <a:t> function lets the admin record additional details about a vehicle’s service, such as observations, mechanic comments, or special instructions.</a:t>
            </a:r>
            <a:endParaRPr lang="en-US" sz="2200" dirty="0"/>
          </a:p>
        </p:txBody>
      </p:sp>
      <p:sp>
        <p:nvSpPr>
          <p:cNvPr id="5" name="Text 2"/>
          <p:cNvSpPr/>
          <p:nvPr/>
        </p:nvSpPr>
        <p:spPr>
          <a:xfrm>
            <a:off x="8143280" y="5102445"/>
            <a:ext cx="5700832" cy="2267545"/>
          </a:xfrm>
          <a:prstGeom prst="rect">
            <a:avLst/>
          </a:prstGeom>
          <a:noFill/>
          <a:ln/>
        </p:spPr>
        <p:txBody>
          <a:bodyPr wrap="square" lIns="0" tIns="0" rIns="0" bIns="0" rtlCol="0" anchor="t"/>
          <a:lstStyle/>
          <a:p>
            <a:pPr marL="0" indent="0" algn="l">
              <a:lnSpc>
                <a:spcPts val="3550"/>
              </a:lnSpc>
              <a:buNone/>
            </a:pPr>
            <a:r>
              <a:rPr lang="en-US" sz="2200" dirty="0">
                <a:solidFill>
                  <a:srgbClr val="C9C2C0"/>
                </a:solidFill>
                <a:latin typeface="Gelasio" pitchFamily="34" charset="0"/>
                <a:ea typeface="Gelasio" pitchFamily="34" charset="-122"/>
                <a:cs typeface="Gelasio" pitchFamily="34" charset="-120"/>
              </a:rPr>
              <a:t>The </a:t>
            </a:r>
            <a:r>
              <a:rPr lang="en-US" sz="2200" b="1" dirty="0">
                <a:solidFill>
                  <a:srgbClr val="C9C2C0"/>
                </a:solidFill>
                <a:latin typeface="Gelasio" pitchFamily="34" charset="0"/>
                <a:ea typeface="Gelasio" pitchFamily="34" charset="-122"/>
                <a:cs typeface="Gelasio" pitchFamily="34" charset="-120"/>
              </a:rPr>
              <a:t>Bill Count</a:t>
            </a:r>
            <a:r>
              <a:rPr lang="en-US" sz="2200" dirty="0">
                <a:solidFill>
                  <a:srgbClr val="C9C2C0"/>
                </a:solidFill>
                <a:latin typeface="Gelasio" pitchFamily="34" charset="0"/>
                <a:ea typeface="Gelasio" pitchFamily="34" charset="-122"/>
                <a:cs typeface="Gelasio" pitchFamily="34" charset="-120"/>
              </a:rPr>
              <a:t> function calculates the total service cost for a vehicle by adding labor charges, spare parts used, and any additional fees. It provides a clear breakdown of expenses.</a:t>
            </a:r>
            <a:endParaRPr lang="en-US" sz="2200"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7912" y="1583519"/>
            <a:ext cx="5319011" cy="3017358"/>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914" y="4743350"/>
            <a:ext cx="5319010" cy="2985736"/>
          </a:xfrm>
          <a:prstGeom prst="rect">
            <a:avLst/>
          </a:prstGeom>
        </p:spPr>
      </p:pic>
      <p:sp>
        <p:nvSpPr>
          <p:cNvPr id="8" name="TextBox 7"/>
          <p:cNvSpPr txBox="1"/>
          <p:nvPr/>
        </p:nvSpPr>
        <p:spPr>
          <a:xfrm>
            <a:off x="24062" y="7808570"/>
            <a:ext cx="14563023" cy="369332"/>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1610" y="497506"/>
            <a:ext cx="2866549" cy="358378"/>
          </a:xfrm>
          <a:prstGeom prst="rect">
            <a:avLst/>
          </a:prstGeom>
          <a:noFill/>
          <a:ln/>
        </p:spPr>
        <p:txBody>
          <a:bodyPr wrap="none" lIns="0" tIns="0" rIns="0" bIns="0" rtlCol="0" anchor="t"/>
          <a:lstStyle/>
          <a:p>
            <a:pPr marL="0" indent="0" algn="l">
              <a:lnSpc>
                <a:spcPts val="2800"/>
              </a:lnSpc>
              <a:buNone/>
            </a:pPr>
            <a:r>
              <a:rPr lang="en-US" sz="2800" dirty="0">
                <a:solidFill>
                  <a:srgbClr val="D8B6A4"/>
                </a:solidFill>
                <a:latin typeface="Gelasio" pitchFamily="34" charset="0"/>
                <a:ea typeface="Gelasio" pitchFamily="34" charset="-122"/>
                <a:cs typeface="Gelasio" pitchFamily="34" charset="-120"/>
              </a:rPr>
              <a:t>Display</a:t>
            </a:r>
            <a:endParaRPr lang="en-US" sz="2800" dirty="0"/>
          </a:p>
        </p:txBody>
      </p:sp>
      <p:sp>
        <p:nvSpPr>
          <p:cNvPr id="3" name="Text 1"/>
          <p:cNvSpPr/>
          <p:nvPr/>
        </p:nvSpPr>
        <p:spPr>
          <a:xfrm>
            <a:off x="501610" y="1153597"/>
            <a:ext cx="13627179" cy="1078467"/>
          </a:xfrm>
          <a:prstGeom prst="rect">
            <a:avLst/>
          </a:prstGeom>
          <a:noFill/>
          <a:ln/>
        </p:spPr>
        <p:txBody>
          <a:bodyPr wrap="square" lIns="0" tIns="0" rIns="0" bIns="0" rtlCol="0" anchor="t"/>
          <a:lstStyle/>
          <a:p>
            <a:pPr marL="0" indent="0" algn="l">
              <a:buNone/>
            </a:pPr>
            <a:r>
              <a:rPr lang="en-US" sz="1600" dirty="0">
                <a:solidFill>
                  <a:srgbClr val="C9C2C0"/>
                </a:solidFill>
                <a:latin typeface="Gelasio" pitchFamily="34" charset="0"/>
                <a:ea typeface="Gelasio" pitchFamily="34" charset="-122"/>
                <a:cs typeface="Gelasio" pitchFamily="34" charset="-120"/>
              </a:rPr>
              <a:t>The </a:t>
            </a:r>
            <a:r>
              <a:rPr lang="en-US" sz="1600" b="1" dirty="0">
                <a:solidFill>
                  <a:srgbClr val="C9C2C0"/>
                </a:solidFill>
                <a:latin typeface="Gelasio" pitchFamily="34" charset="0"/>
                <a:ea typeface="Gelasio" pitchFamily="34" charset="-122"/>
                <a:cs typeface="Gelasio" pitchFamily="34" charset="-120"/>
              </a:rPr>
              <a:t>Display </a:t>
            </a:r>
            <a:r>
              <a:rPr lang="en-US" sz="1600" dirty="0">
                <a:solidFill>
                  <a:srgbClr val="C9C2C0"/>
                </a:solidFill>
                <a:latin typeface="Gelasio" pitchFamily="34" charset="0"/>
                <a:ea typeface="Gelasio" pitchFamily="34" charset="-122"/>
                <a:cs typeface="Gelasio" pitchFamily="34" charset="-120"/>
              </a:rPr>
              <a:t> function shows all the service records stored in the system in a clean, table-like format. It first prints the total number of entries and then displays column headings such as ServiceID, Customer Name, Vehicle Name, Status, and Total Bill. After that, it loops through each service record and prints its details, using proper spacing or formatting to keep all columns aligned neatly. This makes it easy for the admin to quickly review every customer’s service information, check their vehicle status, and see any pending or completed bills—all in one organized view.</a:t>
            </a:r>
            <a:endParaRPr lang="en-US" sz="1600" dirty="0"/>
          </a:p>
        </p:txBody>
      </p:sp>
      <p:sp>
        <p:nvSpPr>
          <p:cNvPr id="4" name="Text 2"/>
          <p:cNvSpPr/>
          <p:nvPr/>
        </p:nvSpPr>
        <p:spPr>
          <a:xfrm>
            <a:off x="501610" y="2002750"/>
            <a:ext cx="13627179" cy="229314"/>
          </a:xfrm>
          <a:prstGeom prst="rect">
            <a:avLst/>
          </a:prstGeom>
          <a:noFill/>
          <a:ln/>
        </p:spPr>
        <p:txBody>
          <a:bodyPr wrap="none" lIns="0" tIns="0" rIns="0" bIns="0" rtlCol="0" anchor="t"/>
          <a:lstStyle/>
          <a:p>
            <a:pPr marL="0" indent="0" algn="l">
              <a:lnSpc>
                <a:spcPts val="1800"/>
              </a:lnSpc>
              <a:buNone/>
            </a:pPr>
            <a:endParaRPr lang="en-US" sz="1100" dirty="0"/>
          </a:p>
        </p:txBody>
      </p:sp>
      <p:pic>
        <p:nvPicPr>
          <p:cNvPr id="5" name="Image 0" descr="preencoded.png"/>
          <p:cNvPicPr>
            <a:picLocks noChangeAspect="1"/>
          </p:cNvPicPr>
          <p:nvPr/>
        </p:nvPicPr>
        <p:blipFill>
          <a:blip r:embed="rId3"/>
          <a:stretch>
            <a:fillRect/>
          </a:stretch>
        </p:blipFill>
        <p:spPr>
          <a:xfrm>
            <a:off x="501610" y="2393275"/>
            <a:ext cx="9208770" cy="4937046"/>
          </a:xfrm>
          <a:prstGeom prst="rect">
            <a:avLst/>
          </a:prstGeom>
        </p:spPr>
      </p:pic>
      <p:sp>
        <p:nvSpPr>
          <p:cNvPr id="6" name="Text 3"/>
          <p:cNvSpPr/>
          <p:nvPr/>
        </p:nvSpPr>
        <p:spPr>
          <a:xfrm>
            <a:off x="501610" y="7491532"/>
            <a:ext cx="13627179" cy="229314"/>
          </a:xfrm>
          <a:prstGeom prst="rect">
            <a:avLst/>
          </a:prstGeom>
          <a:noFill/>
          <a:ln/>
        </p:spPr>
        <p:txBody>
          <a:bodyPr wrap="none" lIns="0" tIns="0" rIns="0" bIns="0" rtlCol="0" anchor="t"/>
          <a:lstStyle/>
          <a:p>
            <a:pPr marL="0" indent="0" algn="l">
              <a:lnSpc>
                <a:spcPts val="1800"/>
              </a:lnSpc>
              <a:buNone/>
            </a:pPr>
            <a:endParaRPr lang="en-US" sz="1100" dirty="0"/>
          </a:p>
        </p:txBody>
      </p:sp>
      <p:sp>
        <p:nvSpPr>
          <p:cNvPr id="7" name="TextBox 6"/>
          <p:cNvSpPr txBox="1"/>
          <p:nvPr/>
        </p:nvSpPr>
        <p:spPr>
          <a:xfrm>
            <a:off x="0" y="7747936"/>
            <a:ext cx="14630400" cy="369332"/>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1352193"/>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D8B6A4"/>
                </a:solidFill>
                <a:latin typeface="Gelasio" pitchFamily="34" charset="0"/>
                <a:ea typeface="Gelasio" pitchFamily="34" charset="-122"/>
                <a:cs typeface="Gelasio" pitchFamily="34" charset="-120"/>
              </a:rPr>
              <a:t>Parts Used</a:t>
            </a:r>
            <a:endParaRPr lang="en-US" sz="4450" dirty="0"/>
          </a:p>
        </p:txBody>
      </p:sp>
      <p:pic>
        <p:nvPicPr>
          <p:cNvPr id="3" name="Image 0" descr="preencoded.png"/>
          <p:cNvPicPr>
            <a:picLocks noChangeAspect="1"/>
          </p:cNvPicPr>
          <p:nvPr/>
        </p:nvPicPr>
        <p:blipFill>
          <a:blip r:embed="rId3"/>
          <a:stretch>
            <a:fillRect/>
          </a:stretch>
        </p:blipFill>
        <p:spPr>
          <a:xfrm>
            <a:off x="793790" y="2656284"/>
            <a:ext cx="6652498" cy="3347799"/>
          </a:xfrm>
          <a:prstGeom prst="rect">
            <a:avLst/>
          </a:prstGeom>
        </p:spPr>
      </p:pic>
      <p:sp>
        <p:nvSpPr>
          <p:cNvPr id="4" name="Text 1"/>
          <p:cNvSpPr/>
          <p:nvPr/>
        </p:nvSpPr>
        <p:spPr>
          <a:xfrm>
            <a:off x="7999809" y="1350119"/>
            <a:ext cx="5836801" cy="6406057"/>
          </a:xfrm>
          <a:prstGeom prst="rect">
            <a:avLst/>
          </a:prstGeom>
          <a:noFill/>
          <a:ln/>
        </p:spPr>
        <p:txBody>
          <a:bodyPr wrap="square" lIns="0" tIns="0" rIns="0" bIns="0" rtlCol="0" anchor="t"/>
          <a:lstStyle/>
          <a:p>
            <a:pPr>
              <a:lnSpc>
                <a:spcPts val="3550"/>
              </a:lnSpc>
            </a:pPr>
            <a:r>
              <a:rPr lang="en-US" sz="2400" dirty="0">
                <a:solidFill>
                  <a:schemeClr val="bg1">
                    <a:lumMod val="75000"/>
                  </a:schemeClr>
                </a:solidFill>
              </a:rPr>
              <a:t>The </a:t>
            </a:r>
            <a:r>
              <a:rPr lang="en-US" sz="2400" b="1" dirty="0">
                <a:solidFill>
                  <a:schemeClr val="bg1">
                    <a:lumMod val="75000"/>
                  </a:schemeClr>
                </a:solidFill>
              </a:rPr>
              <a:t>Parts Used</a:t>
            </a:r>
            <a:r>
              <a:rPr lang="en-US" sz="2400" dirty="0">
                <a:solidFill>
                  <a:schemeClr val="bg1">
                    <a:lumMod val="75000"/>
                  </a:schemeClr>
                </a:solidFill>
              </a:rPr>
              <a:t> function shows information about the spare parts used during vehicle servicing. When the admin selects this option, the system gives two choices: view parts used for a single service ID or view the total parts used across all service records. In our example, option 2 was selected, so the program scanned every service entry, counted how many parts were added, and calculated the total cost of those parts. It then displayed how many parts in total were used (here, 1 part) and the total amount spent on them (150.00). </a:t>
            </a:r>
            <a:endParaRPr lang="en-US" sz="2200" dirty="0">
              <a:solidFill>
                <a:schemeClr val="bg1">
                  <a:lumMod val="75000"/>
                </a:schemeClr>
              </a:solidFill>
            </a:endParaRPr>
          </a:p>
        </p:txBody>
      </p:sp>
      <p:sp>
        <p:nvSpPr>
          <p:cNvPr id="5" name="Text 2"/>
          <p:cNvSpPr/>
          <p:nvPr/>
        </p:nvSpPr>
        <p:spPr>
          <a:xfrm>
            <a:off x="793790" y="6514386"/>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TextBox 5"/>
          <p:cNvSpPr txBox="1"/>
          <p:nvPr/>
        </p:nvSpPr>
        <p:spPr>
          <a:xfrm>
            <a:off x="0" y="7756176"/>
            <a:ext cx="14630400" cy="369332"/>
          </a:xfrm>
          <a:prstGeom prst="rect">
            <a:avLst/>
          </a:prstGeom>
          <a:solidFill>
            <a:schemeClr val="tx1">
              <a:lumMod val="75000"/>
              <a:lumOff val="25000"/>
            </a:schemeClr>
          </a:solidFill>
        </p:spPr>
        <p:txBody>
          <a:bodyPr wrap="square" rtlCol="0">
            <a:spAutoFit/>
          </a:bodyPr>
          <a:lstStyle/>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464342">
              <a:alpha val="80000"/>
            </a:srgbClr>
          </a:solidFill>
          <a:ln/>
        </p:spPr>
      </p:sp>
      <p:sp>
        <p:nvSpPr>
          <p:cNvPr id="4" name="Text 1"/>
          <p:cNvSpPr/>
          <p:nvPr/>
        </p:nvSpPr>
        <p:spPr>
          <a:xfrm>
            <a:off x="4479846" y="3431500"/>
            <a:ext cx="5670590" cy="708779"/>
          </a:xfrm>
          <a:prstGeom prst="rect">
            <a:avLst/>
          </a:prstGeom>
          <a:noFill/>
          <a:ln/>
        </p:spPr>
        <p:txBody>
          <a:bodyPr wrap="none" lIns="0" tIns="0" rIns="0" bIns="0" rtlCol="0" anchor="t"/>
          <a:lstStyle/>
          <a:p>
            <a:pPr marL="0" indent="0" algn="ctr">
              <a:lnSpc>
                <a:spcPts val="5550"/>
              </a:lnSpc>
              <a:buNone/>
            </a:pPr>
            <a:r>
              <a:rPr lang="en-US" sz="4450" dirty="0">
                <a:solidFill>
                  <a:srgbClr val="D8B6A4"/>
                </a:solidFill>
                <a:latin typeface="Gelasio" pitchFamily="34" charset="0"/>
                <a:ea typeface="Gelasio" pitchFamily="34" charset="-122"/>
                <a:cs typeface="Gelasio" pitchFamily="34" charset="-120"/>
              </a:rPr>
              <a:t>Thank You</a:t>
            </a:r>
            <a:endParaRPr lang="en-US" sz="4450" dirty="0"/>
          </a:p>
        </p:txBody>
      </p:sp>
      <p:sp>
        <p:nvSpPr>
          <p:cNvPr id="5" name="Text 2"/>
          <p:cNvSpPr/>
          <p:nvPr/>
        </p:nvSpPr>
        <p:spPr>
          <a:xfrm>
            <a:off x="5046940" y="4231005"/>
            <a:ext cx="4536519" cy="566976"/>
          </a:xfrm>
          <a:prstGeom prst="rect">
            <a:avLst/>
          </a:prstGeom>
          <a:noFill/>
          <a:ln/>
        </p:spPr>
        <p:txBody>
          <a:bodyPr wrap="none" lIns="0" tIns="0" rIns="0" bIns="0" rtlCol="0" anchor="t"/>
          <a:lstStyle/>
          <a:p>
            <a:pPr marL="0" indent="0" algn="ctr">
              <a:lnSpc>
                <a:spcPts val="4450"/>
              </a:lnSpc>
              <a:buNone/>
            </a:pPr>
            <a:r>
              <a:rPr lang="en-US" sz="3550" dirty="0">
                <a:solidFill>
                  <a:srgbClr val="D8B6A4"/>
                </a:solidFill>
                <a:latin typeface="Gelasio" pitchFamily="34" charset="0"/>
                <a:ea typeface="Gelasio" pitchFamily="34" charset="-122"/>
                <a:cs typeface="Gelasio" pitchFamily="34" charset="-120"/>
              </a:rPr>
              <a:t>Team Moon Slayers</a:t>
            </a:r>
            <a:endParaRPr lang="en-US" sz="3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TotalTime>
  <Words>1099</Words>
  <Application>Microsoft Office PowerPoint</Application>
  <PresentationFormat>Custom</PresentationFormat>
  <Paragraphs>94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Gelasio</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C.M</dc:creator>
  <cp:lastModifiedBy>Avijit Biswas</cp:lastModifiedBy>
  <cp:revision>6</cp:revision>
  <dcterms:created xsi:type="dcterms:W3CDTF">2025-12-03T16:28:11Z</dcterms:created>
  <dcterms:modified xsi:type="dcterms:W3CDTF">2025-12-04T12:38:27Z</dcterms:modified>
</cp:coreProperties>
</file>